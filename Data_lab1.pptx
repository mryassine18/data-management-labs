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62" r:id="rId3"/>
    <p:sldId id="257" r:id="rId4"/>
    <p:sldId id="258" r:id="rId5"/>
    <p:sldId id="259" r:id="rId6"/>
    <p:sldId id="260" r:id="rId7"/>
    <p:sldId id="296" r:id="rId8"/>
    <p:sldId id="297" r:id="rId9"/>
    <p:sldId id="298" r:id="rId10"/>
    <p:sldId id="299" r:id="rId11"/>
    <p:sldId id="300" r:id="rId12"/>
    <p:sldId id="268" r:id="rId13"/>
    <p:sldId id="269" r:id="rId14"/>
    <p:sldId id="271" r:id="rId15"/>
    <p:sldId id="272" r:id="rId16"/>
    <p:sldId id="273" r:id="rId17"/>
    <p:sldId id="274" r:id="rId18"/>
    <p:sldId id="275" r:id="rId19"/>
    <p:sldId id="276" r:id="rId20"/>
    <p:sldId id="277" r:id="rId21"/>
    <p:sldId id="263" r:id="rId22"/>
    <p:sldId id="264" r:id="rId23"/>
    <p:sldId id="265" r:id="rId24"/>
    <p:sldId id="266" r:id="rId25"/>
    <p:sldId id="267" r:id="rId26"/>
    <p:sldId id="278" r:id="rId27"/>
    <p:sldId id="291" r:id="rId28"/>
    <p:sldId id="295" r:id="rId29"/>
    <p:sldId id="292" r:id="rId30"/>
    <p:sldId id="301" r:id="rId31"/>
    <p:sldId id="302" r:id="rId32"/>
    <p:sldId id="293" r:id="rId33"/>
    <p:sldId id="294" r:id="rId34"/>
    <p:sldId id="279" r:id="rId35"/>
    <p:sldId id="303" r:id="rId36"/>
    <p:sldId id="304" r:id="rId37"/>
  </p:sldIdLst>
  <p:sldSz cx="12192000" cy="6858000"/>
  <p:notesSz cx="6858000" cy="9144000"/>
  <p:defaultText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88"/>
    <p:restoredTop sz="91551"/>
  </p:normalViewPr>
  <p:slideViewPr>
    <p:cSldViewPr snapToGrid="0">
      <p:cViewPr>
        <p:scale>
          <a:sx n="122" d="100"/>
          <a:sy n="122" d="100"/>
        </p:scale>
        <p:origin x="12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4FB27-5EB5-6A4D-81A7-EF20C3318889}" type="datetimeFigureOut">
              <a:rPr lang="en-MA" smtClean="0"/>
              <a:t>20/9/2026</a:t>
            </a:fld>
            <a:endParaRPr lang="en-M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50DB82-257D-2D46-A682-C23196BB3B42}" type="slidenum">
              <a:rPr lang="en-MA" smtClean="0"/>
              <a:t>‹#›</a:t>
            </a:fld>
            <a:endParaRPr lang="en-MA"/>
          </a:p>
        </p:txBody>
      </p:sp>
    </p:spTree>
    <p:extLst>
      <p:ext uri="{BB962C8B-B14F-4D97-AF65-F5344CB8AC3E}">
        <p14:creationId xmlns:p14="http://schemas.microsoft.com/office/powerpoint/2010/main" val="1367198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EQ1 asks us to separate the catalogue entry from the physical object. Keeping one entity set would repeat the manufacturer and the category on every serial number, and would turn the certification rule of CE6 into a rule written once per unit.</a:t>
            </a:r>
          </a:p>
          <a:p>
            <a:endParaRPr/>
          </a:p>
          <a:p>
            <a:r>
              <a:t>Belongs_to has a thick arrow from Equipment_Unit. The arrow means at most one model, the thick line means at least one, so together they give the exactly one of EQ5. Equipment_Model is thin because a model can exist with no unit yet.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EQ7 gives an asymmetric cardinality: at most one person per unit at a time, but one person can hold several units. That is an arrow on the Equipment_Unit side only. Both lines are thin, a unit can sit idle and a person can be using nothing. The word eligible in EQ7 comes from CE7 and cannot be drawn.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 is many to many (CE6) and is attached to Equipment_Model, not to the unit, because a certification authorises a make and model. Both sides are thin since CE1 says only certain equipment needs certification.</a:t>
            </a:r>
          </a:p>
          <a:p>
            <a:endParaRPr/>
          </a:p>
          <a:p>
            <a:r>
              <a:t>Hold is many to many too (CE3). The issue date, expiration date and grade of CE4 sit on the relationship because they describe the award. CE5 needs nothing extra: a relationship set holds one instance per pair, so a new award replaces the old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MA2 identifies a maintenance by the serial number plus the start timestamp, so start_ts is a partial key and Maintenance is a weak entity set. Undergoes is its identifying relationship and carries a thick arrow from Maintenance.</a:t>
            </a:r>
          </a:p>
          <a:p>
            <a:endParaRPr/>
          </a:p>
          <a:p>
            <a:r>
              <a:t>Carried_by points at Technical_Staff and not at Person. That is what enforces the technical staff member of MA3, and it is the link back to the ISA hierarchy of part 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pattern as maintenance: CA4 identifies a record by the unit plus the calibration date and CA3 makes Has_Calibration the identifying relationship.</a:t>
            </a:r>
          </a:p>
          <a:p>
            <a:endParaRPr/>
          </a:p>
          <a:p>
            <a:r>
              <a:t>The difference is on purpose. CA1 says calibration is routine and we do not need to know who did it, so Calibration has no Carried_by. Putting maintenance and calibration in one entity set would have lost that. Equipment_Unit is thin because only some units need calibration.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Laboratory and Technical_Staff come from part 1. Everything else belongs to this part.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3FBA7-A994-3899-865D-3233B31DED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A"/>
          </a:p>
        </p:txBody>
      </p:sp>
      <p:sp>
        <p:nvSpPr>
          <p:cNvPr id="3" name="Subtitle 2">
            <a:extLst>
              <a:ext uri="{FF2B5EF4-FFF2-40B4-BE49-F238E27FC236}">
                <a16:creationId xmlns:a16="http://schemas.microsoft.com/office/drawing/2014/main" id="{FC4D2D64-161C-F983-E4E6-85B4652CE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A"/>
          </a:p>
        </p:txBody>
      </p:sp>
      <p:sp>
        <p:nvSpPr>
          <p:cNvPr id="4" name="Date Placeholder 3">
            <a:extLst>
              <a:ext uri="{FF2B5EF4-FFF2-40B4-BE49-F238E27FC236}">
                <a16:creationId xmlns:a16="http://schemas.microsoft.com/office/drawing/2014/main" id="{E0D3BBE1-94BF-7B2D-65A8-BDE8B707E44E}"/>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724C36EC-611E-A867-81C8-B57724D474D8}"/>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992DB637-358B-3446-E382-47A989BC89DF}"/>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4227714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8504A-2EA4-CD50-0387-F692604DA2CC}"/>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337B2C6D-C951-1CE1-464B-328FEEC7A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57AD67E4-8C1F-83FC-0274-62A9EECEF9B9}"/>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94FFC6F0-1139-2F5E-1D4E-6B76B2A9A9BC}"/>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E17E88CC-7ED6-473F-4283-1DEC7471955A}"/>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1221482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1F8AD-D93C-B971-ADF2-D6CD0D7E05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A"/>
          </a:p>
        </p:txBody>
      </p:sp>
      <p:sp>
        <p:nvSpPr>
          <p:cNvPr id="3" name="Text Placeholder 2">
            <a:extLst>
              <a:ext uri="{FF2B5EF4-FFF2-40B4-BE49-F238E27FC236}">
                <a16:creationId xmlns:a16="http://schemas.microsoft.com/office/drawing/2014/main" id="{5F894844-3E81-9FE1-7899-271AAAFBE4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9D255F-A07E-17C4-7D0E-0225A21E8ACD}"/>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91FE7323-BCC1-648B-B79B-3C331CE87830}"/>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04CABD45-E421-F37A-ABA9-7BFCA3BC00DF}"/>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4924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AE92-1694-022D-B3DA-D5C1D5FA984F}"/>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8C4F2D38-4BC3-88B1-3F0E-FF076F284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Content Placeholder 3">
            <a:extLst>
              <a:ext uri="{FF2B5EF4-FFF2-40B4-BE49-F238E27FC236}">
                <a16:creationId xmlns:a16="http://schemas.microsoft.com/office/drawing/2014/main" id="{32D2D05C-C98E-A9F9-428D-E8DF04B254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Date Placeholder 4">
            <a:extLst>
              <a:ext uri="{FF2B5EF4-FFF2-40B4-BE49-F238E27FC236}">
                <a16:creationId xmlns:a16="http://schemas.microsoft.com/office/drawing/2014/main" id="{74BCB54A-55AF-9EB0-7CBC-73D178BA5B40}"/>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6" name="Footer Placeholder 5">
            <a:extLst>
              <a:ext uri="{FF2B5EF4-FFF2-40B4-BE49-F238E27FC236}">
                <a16:creationId xmlns:a16="http://schemas.microsoft.com/office/drawing/2014/main" id="{11960156-61A4-84AB-D7CA-A4383476981A}"/>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86E2FDBD-2943-2C2B-BE7C-DF1AF31EF503}"/>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861814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A977-2CE0-D32E-0F88-D399B54D48EC}"/>
              </a:ext>
            </a:extLst>
          </p:cNvPr>
          <p:cNvSpPr>
            <a:spLocks noGrp="1"/>
          </p:cNvSpPr>
          <p:nvPr>
            <p:ph type="title"/>
          </p:nvPr>
        </p:nvSpPr>
        <p:spPr>
          <a:xfrm>
            <a:off x="839788" y="365125"/>
            <a:ext cx="10515600" cy="1325563"/>
          </a:xfrm>
        </p:spPr>
        <p:txBody>
          <a:bodyPr/>
          <a:lstStyle/>
          <a:p>
            <a:r>
              <a:rPr lang="en-US"/>
              <a:t>Click to edit Master title style</a:t>
            </a:r>
            <a:endParaRPr lang="en-MA"/>
          </a:p>
        </p:txBody>
      </p:sp>
      <p:sp>
        <p:nvSpPr>
          <p:cNvPr id="3" name="Text Placeholder 2">
            <a:extLst>
              <a:ext uri="{FF2B5EF4-FFF2-40B4-BE49-F238E27FC236}">
                <a16:creationId xmlns:a16="http://schemas.microsoft.com/office/drawing/2014/main" id="{03041CA8-4E8D-2C0E-C062-EB87F4A42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1F4393-1CF0-8B2E-C352-CE8EB6E21A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Text Placeholder 4">
            <a:extLst>
              <a:ext uri="{FF2B5EF4-FFF2-40B4-BE49-F238E27FC236}">
                <a16:creationId xmlns:a16="http://schemas.microsoft.com/office/drawing/2014/main" id="{5F7283A9-CF14-BA2A-DA97-9B3BEFE719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18CB41-ADD2-7A7B-9878-A5CE5232B1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7" name="Date Placeholder 6">
            <a:extLst>
              <a:ext uri="{FF2B5EF4-FFF2-40B4-BE49-F238E27FC236}">
                <a16:creationId xmlns:a16="http://schemas.microsoft.com/office/drawing/2014/main" id="{9F127EA5-7354-395D-7CA3-993295544D65}"/>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8" name="Footer Placeholder 7">
            <a:extLst>
              <a:ext uri="{FF2B5EF4-FFF2-40B4-BE49-F238E27FC236}">
                <a16:creationId xmlns:a16="http://schemas.microsoft.com/office/drawing/2014/main" id="{A3445AF6-9189-7E8A-40DE-8BEE50292E78}"/>
              </a:ext>
            </a:extLst>
          </p:cNvPr>
          <p:cNvSpPr>
            <a:spLocks noGrp="1"/>
          </p:cNvSpPr>
          <p:nvPr>
            <p:ph type="ftr" sz="quarter" idx="11"/>
          </p:nvPr>
        </p:nvSpPr>
        <p:spPr/>
        <p:txBody>
          <a:bodyPr/>
          <a:lstStyle/>
          <a:p>
            <a:endParaRPr lang="en-MA"/>
          </a:p>
        </p:txBody>
      </p:sp>
      <p:sp>
        <p:nvSpPr>
          <p:cNvPr id="9" name="Slide Number Placeholder 8">
            <a:extLst>
              <a:ext uri="{FF2B5EF4-FFF2-40B4-BE49-F238E27FC236}">
                <a16:creationId xmlns:a16="http://schemas.microsoft.com/office/drawing/2014/main" id="{64A1235E-0F2B-B77B-C912-CD91AA0AC1AA}"/>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3329251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1AD6-2571-9511-23D4-F736CE860BD8}"/>
              </a:ext>
            </a:extLst>
          </p:cNvPr>
          <p:cNvSpPr>
            <a:spLocks noGrp="1"/>
          </p:cNvSpPr>
          <p:nvPr>
            <p:ph type="title"/>
          </p:nvPr>
        </p:nvSpPr>
        <p:spPr/>
        <p:txBody>
          <a:bodyPr/>
          <a:lstStyle/>
          <a:p>
            <a:r>
              <a:rPr lang="en-US"/>
              <a:t>Click to edit Master title style</a:t>
            </a:r>
            <a:endParaRPr lang="en-MA"/>
          </a:p>
        </p:txBody>
      </p:sp>
      <p:sp>
        <p:nvSpPr>
          <p:cNvPr id="3" name="Date Placeholder 2">
            <a:extLst>
              <a:ext uri="{FF2B5EF4-FFF2-40B4-BE49-F238E27FC236}">
                <a16:creationId xmlns:a16="http://schemas.microsoft.com/office/drawing/2014/main" id="{569F0977-ADE0-7D77-A106-2BDDDEACABFC}"/>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4" name="Footer Placeholder 3">
            <a:extLst>
              <a:ext uri="{FF2B5EF4-FFF2-40B4-BE49-F238E27FC236}">
                <a16:creationId xmlns:a16="http://schemas.microsoft.com/office/drawing/2014/main" id="{FC6F59AB-623D-F1DF-6C45-48884630052D}"/>
              </a:ext>
            </a:extLst>
          </p:cNvPr>
          <p:cNvSpPr>
            <a:spLocks noGrp="1"/>
          </p:cNvSpPr>
          <p:nvPr>
            <p:ph type="ftr" sz="quarter" idx="11"/>
          </p:nvPr>
        </p:nvSpPr>
        <p:spPr/>
        <p:txBody>
          <a:bodyPr/>
          <a:lstStyle/>
          <a:p>
            <a:endParaRPr lang="en-MA"/>
          </a:p>
        </p:txBody>
      </p:sp>
      <p:sp>
        <p:nvSpPr>
          <p:cNvPr id="5" name="Slide Number Placeholder 4">
            <a:extLst>
              <a:ext uri="{FF2B5EF4-FFF2-40B4-BE49-F238E27FC236}">
                <a16:creationId xmlns:a16="http://schemas.microsoft.com/office/drawing/2014/main" id="{B3D991F4-0664-4EB6-7A7F-FC1530000428}"/>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20170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A705E3-F696-5878-6B77-D46A42C16376}"/>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3" name="Footer Placeholder 2">
            <a:extLst>
              <a:ext uri="{FF2B5EF4-FFF2-40B4-BE49-F238E27FC236}">
                <a16:creationId xmlns:a16="http://schemas.microsoft.com/office/drawing/2014/main" id="{C2FF0DFC-321A-6F04-D843-DB2A49DCC203}"/>
              </a:ext>
            </a:extLst>
          </p:cNvPr>
          <p:cNvSpPr>
            <a:spLocks noGrp="1"/>
          </p:cNvSpPr>
          <p:nvPr>
            <p:ph type="ftr" sz="quarter" idx="11"/>
          </p:nvPr>
        </p:nvSpPr>
        <p:spPr/>
        <p:txBody>
          <a:bodyPr/>
          <a:lstStyle/>
          <a:p>
            <a:endParaRPr lang="en-MA"/>
          </a:p>
        </p:txBody>
      </p:sp>
      <p:sp>
        <p:nvSpPr>
          <p:cNvPr id="4" name="Slide Number Placeholder 3">
            <a:extLst>
              <a:ext uri="{FF2B5EF4-FFF2-40B4-BE49-F238E27FC236}">
                <a16:creationId xmlns:a16="http://schemas.microsoft.com/office/drawing/2014/main" id="{5894AFE7-6966-A072-BE2E-A41CC64ECB49}"/>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4032770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24ECC-4404-4091-39EC-40B779B324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Content Placeholder 2">
            <a:extLst>
              <a:ext uri="{FF2B5EF4-FFF2-40B4-BE49-F238E27FC236}">
                <a16:creationId xmlns:a16="http://schemas.microsoft.com/office/drawing/2014/main" id="{03D46BE1-AB47-15A4-BAD1-AF6E83A689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Text Placeholder 3">
            <a:extLst>
              <a:ext uri="{FF2B5EF4-FFF2-40B4-BE49-F238E27FC236}">
                <a16:creationId xmlns:a16="http://schemas.microsoft.com/office/drawing/2014/main" id="{516B43C8-1A4B-6228-F64C-33BE433F2F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A656D-E8C4-E528-FC69-8FF1C3B62305}"/>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6" name="Footer Placeholder 5">
            <a:extLst>
              <a:ext uri="{FF2B5EF4-FFF2-40B4-BE49-F238E27FC236}">
                <a16:creationId xmlns:a16="http://schemas.microsoft.com/office/drawing/2014/main" id="{1E040996-62DE-936C-4061-E528C0DC5A08}"/>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3EB9591A-70A4-8FF7-10CE-0DE6182B863D}"/>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126457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A66E0-ED3B-FBBB-A9FB-E626BB812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Picture Placeholder 2">
            <a:extLst>
              <a:ext uri="{FF2B5EF4-FFF2-40B4-BE49-F238E27FC236}">
                <a16:creationId xmlns:a16="http://schemas.microsoft.com/office/drawing/2014/main" id="{5FEE3607-ACCE-DC28-38E9-623561851E5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A"/>
          </a:p>
        </p:txBody>
      </p:sp>
      <p:sp>
        <p:nvSpPr>
          <p:cNvPr id="4" name="Text Placeholder 3">
            <a:extLst>
              <a:ext uri="{FF2B5EF4-FFF2-40B4-BE49-F238E27FC236}">
                <a16:creationId xmlns:a16="http://schemas.microsoft.com/office/drawing/2014/main" id="{BBAA915E-410E-E735-D622-B693C3B876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78BA3-5E7B-2EBB-4333-F8B2B901FAF2}"/>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6" name="Footer Placeholder 5">
            <a:extLst>
              <a:ext uri="{FF2B5EF4-FFF2-40B4-BE49-F238E27FC236}">
                <a16:creationId xmlns:a16="http://schemas.microsoft.com/office/drawing/2014/main" id="{3F00AE04-67CC-73E6-8DC4-C8247A09B166}"/>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D356C128-E3F8-72FD-A710-B41EBEEE5FF0}"/>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2396798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DD476-92CA-264F-8529-C654BF2C2244}"/>
              </a:ext>
            </a:extLst>
          </p:cNvPr>
          <p:cNvSpPr>
            <a:spLocks noGrp="1"/>
          </p:cNvSpPr>
          <p:nvPr>
            <p:ph type="title"/>
          </p:nvPr>
        </p:nvSpPr>
        <p:spPr/>
        <p:txBody>
          <a:bodyPr/>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759096F2-BA42-2141-42E1-C3E58D44F0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B5E36736-EE17-9963-6800-8DC8636D37E6}"/>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834770AE-4FDD-ACB2-9321-E2BCDCA01ED2}"/>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5EA90B2B-537B-74AE-F976-014C91CA14D4}"/>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987139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C0B57D-1C13-28A9-A51A-A4B724188D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A576E461-7509-5B7F-DA9E-78F70C9DB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244E18D5-BB2A-0957-6511-6168AF93A102}"/>
              </a:ext>
            </a:extLst>
          </p:cNvPr>
          <p:cNvSpPr>
            <a:spLocks noGrp="1"/>
          </p:cNvSpPr>
          <p:nvPr>
            <p:ph type="dt" sz="half" idx="10"/>
          </p:nvPr>
        </p:nvSpPr>
        <p:spPr/>
        <p:txBody>
          <a:body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A67565AB-2792-C2EF-E417-863B8A4013B3}"/>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7DA42C75-41F4-7D7C-2AE6-B99A763D7D9B}"/>
              </a:ext>
            </a:extLst>
          </p:cNvPr>
          <p:cNvSpPr>
            <a:spLocks noGrp="1"/>
          </p:cNvSpPr>
          <p:nvPr>
            <p:ph type="sldNum" sz="quarter" idx="12"/>
          </p:nvPr>
        </p:nvSpPr>
        <p:spPr/>
        <p:txBody>
          <a:bodyPr/>
          <a:lstStyle/>
          <a:p>
            <a:fld id="{F77DF8B5-DF07-3A47-B1DE-5113ADCC08EA}" type="slidenum">
              <a:rPr lang="en-MA" smtClean="0"/>
              <a:t>‹#›</a:t>
            </a:fld>
            <a:endParaRPr lang="en-MA"/>
          </a:p>
        </p:txBody>
      </p:sp>
    </p:spTree>
    <p:extLst>
      <p:ext uri="{BB962C8B-B14F-4D97-AF65-F5344CB8AC3E}">
        <p14:creationId xmlns:p14="http://schemas.microsoft.com/office/powerpoint/2010/main" val="994850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810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C5E5E1-572B-14D2-59F4-41A995EEA0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A"/>
          </a:p>
        </p:txBody>
      </p:sp>
      <p:sp>
        <p:nvSpPr>
          <p:cNvPr id="3" name="Text Placeholder 2">
            <a:extLst>
              <a:ext uri="{FF2B5EF4-FFF2-40B4-BE49-F238E27FC236}">
                <a16:creationId xmlns:a16="http://schemas.microsoft.com/office/drawing/2014/main" id="{A9B25C2B-E4AB-0C43-F39B-88F9AF3C3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BC4B49B5-A0EE-EA95-E383-092175A0F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CCBB47-E924-6C4D-A128-2C194F161D99}" type="datetimeFigureOut">
              <a:rPr lang="en-MA" smtClean="0"/>
              <a:t>20/9/2026</a:t>
            </a:fld>
            <a:endParaRPr lang="en-MA"/>
          </a:p>
        </p:txBody>
      </p:sp>
      <p:sp>
        <p:nvSpPr>
          <p:cNvPr id="5" name="Footer Placeholder 4">
            <a:extLst>
              <a:ext uri="{FF2B5EF4-FFF2-40B4-BE49-F238E27FC236}">
                <a16:creationId xmlns:a16="http://schemas.microsoft.com/office/drawing/2014/main" id="{287F3D48-C285-34F2-2A92-5403C8E899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A"/>
          </a:p>
        </p:txBody>
      </p:sp>
      <p:sp>
        <p:nvSpPr>
          <p:cNvPr id="6" name="Slide Number Placeholder 5">
            <a:extLst>
              <a:ext uri="{FF2B5EF4-FFF2-40B4-BE49-F238E27FC236}">
                <a16:creationId xmlns:a16="http://schemas.microsoft.com/office/drawing/2014/main" id="{EB621AD3-07A9-1EF1-A5E5-4E15E640A9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7DF8B5-DF07-3A47-B1DE-5113ADCC08EA}" type="slidenum">
              <a:rPr lang="en-MA" smtClean="0"/>
              <a:t>‹#›</a:t>
            </a:fld>
            <a:endParaRPr lang="en-MA"/>
          </a:p>
        </p:txBody>
      </p:sp>
    </p:spTree>
    <p:extLst>
      <p:ext uri="{BB962C8B-B14F-4D97-AF65-F5344CB8AC3E}">
        <p14:creationId xmlns:p14="http://schemas.microsoft.com/office/powerpoint/2010/main" val="128841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59E8C1D-4577-65E2-567A-D4DD84A611AB}"/>
              </a:ext>
            </a:extLst>
          </p:cNvPr>
          <p:cNvSpPr>
            <a:spLocks noGrp="1"/>
          </p:cNvSpPr>
          <p:nvPr>
            <p:ph type="ctrTitle"/>
          </p:nvPr>
        </p:nvSpPr>
        <p:spPr>
          <a:xfrm>
            <a:off x="804672" y="2053641"/>
            <a:ext cx="3669161" cy="2760098"/>
          </a:xfrm>
        </p:spPr>
        <p:txBody>
          <a:bodyPr vert="horz" lIns="91440" tIns="45720" rIns="91440" bIns="45720" rtlCol="0" anchor="ctr">
            <a:normAutofit/>
          </a:bodyPr>
          <a:lstStyle/>
          <a:p>
            <a:pPr algn="l"/>
            <a:r>
              <a:rPr lang="en-US" sz="4000" kern="1200">
                <a:solidFill>
                  <a:schemeClr val="tx2"/>
                </a:solidFill>
                <a:latin typeface="+mj-lt"/>
                <a:ea typeface="+mj-ea"/>
                <a:cs typeface="+mj-cs"/>
              </a:rPr>
              <a:t>Data management lab1</a:t>
            </a:r>
          </a:p>
        </p:txBody>
      </p:sp>
      <p:sp>
        <p:nvSpPr>
          <p:cNvPr id="3" name="Subtitle 2">
            <a:extLst>
              <a:ext uri="{FF2B5EF4-FFF2-40B4-BE49-F238E27FC236}">
                <a16:creationId xmlns:a16="http://schemas.microsoft.com/office/drawing/2014/main" id="{57824720-41A8-8C65-ED1C-314172900978}"/>
              </a:ext>
            </a:extLst>
          </p:cNvPr>
          <p:cNvSpPr>
            <a:spLocks noGrp="1"/>
          </p:cNvSpPr>
          <p:nvPr>
            <p:ph type="subTitle" idx="1"/>
          </p:nvPr>
        </p:nvSpPr>
        <p:spPr>
          <a:xfrm>
            <a:off x="6090574" y="801866"/>
            <a:ext cx="5306084" cy="5230634"/>
          </a:xfrm>
          <a:noFill/>
          <a:ln>
            <a:noFill/>
          </a:ln>
        </p:spPr>
        <p:txBody>
          <a:bodyPr vert="horz" lIns="91440" tIns="45720" rIns="91440" bIns="45720" rtlCol="0" anchor="ctr">
            <a:normAutofit/>
          </a:bodyPr>
          <a:lstStyle/>
          <a:p>
            <a:pPr indent="-228600" algn="l">
              <a:buFont typeface="Arial" panose="020B0604020202020204" pitchFamily="34" charset="0"/>
              <a:buChar char="•"/>
            </a:pPr>
            <a:r>
              <a:rPr lang="en-US" sz="1800">
                <a:solidFill>
                  <a:schemeClr val="tx2"/>
                </a:solidFill>
              </a:rPr>
              <a:t>Team members :</a:t>
            </a:r>
          </a:p>
          <a:p>
            <a:pPr marL="342900" indent="-228600" algn="l">
              <a:buFont typeface="Arial" panose="020B0604020202020204" pitchFamily="34" charset="0"/>
              <a:buChar char="•"/>
            </a:pPr>
            <a:r>
              <a:rPr lang="en-US" sz="1800">
                <a:solidFill>
                  <a:schemeClr val="tx2"/>
                </a:solidFill>
              </a:rPr>
              <a:t>Yassine TAHA</a:t>
            </a:r>
          </a:p>
          <a:p>
            <a:pPr marL="342900" indent="-228600" algn="l">
              <a:buFont typeface="Arial" panose="020B0604020202020204" pitchFamily="34" charset="0"/>
              <a:buChar char="•"/>
            </a:pPr>
            <a:r>
              <a:rPr lang="en-US" sz="1800">
                <a:solidFill>
                  <a:schemeClr val="tx2"/>
                </a:solidFill>
              </a:rPr>
              <a:t>Saad Saber </a:t>
            </a:r>
          </a:p>
          <a:p>
            <a:pPr marL="342900" indent="-228600" algn="l">
              <a:buFont typeface="Arial" panose="020B0604020202020204" pitchFamily="34" charset="0"/>
              <a:buChar char="•"/>
            </a:pPr>
            <a:r>
              <a:rPr lang="en-US" sz="1800">
                <a:solidFill>
                  <a:schemeClr val="tx2"/>
                </a:solidFill>
              </a:rPr>
              <a:t>Hafsa SAHNOUN2</a:t>
            </a:r>
          </a:p>
          <a:p>
            <a:pPr marL="342900" indent="-228600" algn="l">
              <a:buFont typeface="Arial" panose="020B0604020202020204" pitchFamily="34" charset="0"/>
              <a:buChar char="•"/>
            </a:pPr>
            <a:r>
              <a:rPr lang="en-US" sz="1800">
                <a:solidFill>
                  <a:schemeClr val="tx2"/>
                </a:solidFill>
              </a:rPr>
              <a:t>Achraf RHANNAM</a:t>
            </a:r>
          </a:p>
          <a:p>
            <a:pPr indent="-228600" algn="l">
              <a:buFont typeface="Arial" panose="020B0604020202020204" pitchFamily="34" charset="0"/>
              <a:buChar char="•"/>
            </a:pPr>
            <a:endParaRPr lang="en-US" sz="1800">
              <a:solidFill>
                <a:schemeClr val="tx2"/>
              </a:solidFill>
            </a:endParaRPr>
          </a:p>
        </p:txBody>
      </p:sp>
    </p:spTree>
    <p:extLst>
      <p:ext uri="{BB962C8B-B14F-4D97-AF65-F5344CB8AC3E}">
        <p14:creationId xmlns:p14="http://schemas.microsoft.com/office/powerpoint/2010/main" val="3780929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Part 1 — People and Laboratories</a:t>
            </a:r>
          </a:p>
        </p:txBody>
      </p:sp>
      <p:sp>
        <p:nvSpPr>
          <p:cNvPr id="3" name="Text Placeholder 2"/>
          <p:cNvSpPr>
            <a:spLocks noGrp="1"/>
          </p:cNvSpPr>
          <p:nvPr>
            <p:ph type="body" idx="1"/>
          </p:nvPr>
        </p:nvSpPr>
        <p:spPr>
          <a:xfrm>
            <a:off x="838199" y="4983276"/>
            <a:ext cx="10512552" cy="1126680"/>
          </a:xfrm>
        </p:spPr>
        <p:txBody>
          <a:bodyPr vert="horz" lIns="91440" tIns="45720" rIns="91440" bIns="45720" rtlCol="0">
            <a:normAutofit/>
          </a:bodyPr>
          <a:lstStyle/>
          <a:p>
            <a:r>
              <a:rPr lang="en-US" kern="1200">
                <a:solidFill>
                  <a:schemeClr val="tx1"/>
                </a:solidFill>
                <a:latin typeface="+mn-lt"/>
                <a:ea typeface="+mn-ea"/>
                <a:cs typeface="+mn-cs"/>
              </a:rPr>
              <a:t>PE1–PE6 and LA1–LA4</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A290-1D25-8F56-F746-3CB050E67850}"/>
              </a:ext>
            </a:extLst>
          </p:cNvPr>
          <p:cNvSpPr>
            <a:spLocks noGrp="1"/>
          </p:cNvSpPr>
          <p:nvPr>
            <p:ph type="title"/>
          </p:nvPr>
        </p:nvSpPr>
        <p:spPr>
          <a:xfrm>
            <a:off x="289559" y="461181"/>
            <a:ext cx="4282441" cy="973345"/>
          </a:xfrm>
        </p:spPr>
        <p:txBody>
          <a:bodyPr>
            <a:normAutofit fontScale="90000"/>
          </a:bodyPr>
          <a:lstStyle/>
          <a:p>
            <a:r>
              <a:rPr lang="en-US" b="1" dirty="0">
                <a:solidFill>
                  <a:srgbClr val="1F2A44"/>
                </a:solidFill>
                <a:latin typeface="Cambria" pitchFamily="34" charset="0"/>
                <a:ea typeface="Cambria" pitchFamily="34" charset="-122"/>
                <a:cs typeface="Cambria" pitchFamily="34" charset="-120"/>
              </a:rPr>
              <a:t>People hierarchy</a:t>
            </a:r>
            <a:endParaRPr lang="en-MA" dirty="0"/>
          </a:p>
        </p:txBody>
      </p:sp>
      <p:sp>
        <p:nvSpPr>
          <p:cNvPr id="6" name="TextBox 5">
            <a:extLst>
              <a:ext uri="{FF2B5EF4-FFF2-40B4-BE49-F238E27FC236}">
                <a16:creationId xmlns:a16="http://schemas.microsoft.com/office/drawing/2014/main" id="{CF118814-3BFA-8DB8-9B45-2B44C8E38EFA}"/>
              </a:ext>
            </a:extLst>
          </p:cNvPr>
          <p:cNvSpPr txBox="1"/>
          <p:nvPr/>
        </p:nvSpPr>
        <p:spPr>
          <a:xfrm>
            <a:off x="5973335" y="686243"/>
            <a:ext cx="4455886" cy="584775"/>
          </a:xfrm>
          <a:prstGeom prst="rect">
            <a:avLst/>
          </a:prstGeom>
          <a:noFill/>
        </p:spPr>
        <p:txBody>
          <a:bodyPr wrap="square" rtlCol="0">
            <a:spAutoFit/>
          </a:bodyPr>
          <a:lstStyle/>
          <a:p>
            <a:r>
              <a:rPr lang="en-US" sz="3200" b="1" dirty="0">
                <a:solidFill>
                  <a:srgbClr val="1F2A44"/>
                </a:solidFill>
                <a:latin typeface="Cambria" pitchFamily="34" charset="0"/>
                <a:ea typeface="Cambria" pitchFamily="34" charset="-122"/>
                <a:cs typeface="Cambria" pitchFamily="34" charset="-120"/>
              </a:rPr>
              <a:t>Employee</a:t>
            </a:r>
            <a:endParaRPr lang="en-MA" sz="3200" dirty="0"/>
          </a:p>
        </p:txBody>
      </p:sp>
      <p:pic>
        <p:nvPicPr>
          <p:cNvPr id="8" name="Picture 7">
            <a:extLst>
              <a:ext uri="{FF2B5EF4-FFF2-40B4-BE49-F238E27FC236}">
                <a16:creationId xmlns:a16="http://schemas.microsoft.com/office/drawing/2014/main" id="{84CD5460-4993-790D-EE6E-A263E3426A38}"/>
              </a:ext>
            </a:extLst>
          </p:cNvPr>
          <p:cNvPicPr>
            <a:picLocks noChangeAspect="1"/>
          </p:cNvPicPr>
          <p:nvPr/>
        </p:nvPicPr>
        <p:blipFill>
          <a:blip r:embed="rId2"/>
          <a:stretch>
            <a:fillRect/>
          </a:stretch>
        </p:blipFill>
        <p:spPr>
          <a:xfrm>
            <a:off x="5973335" y="1648521"/>
            <a:ext cx="5896901" cy="4261625"/>
          </a:xfrm>
          <a:prstGeom prst="rect">
            <a:avLst/>
          </a:prstGeom>
        </p:spPr>
      </p:pic>
      <p:pic>
        <p:nvPicPr>
          <p:cNvPr id="9" name="Content Placeholder 8">
            <a:extLst>
              <a:ext uri="{FF2B5EF4-FFF2-40B4-BE49-F238E27FC236}">
                <a16:creationId xmlns:a16="http://schemas.microsoft.com/office/drawing/2014/main" id="{333FD3D2-56CB-14F7-B4B4-EA13C813D995}"/>
              </a:ext>
            </a:extLst>
          </p:cNvPr>
          <p:cNvPicPr>
            <a:picLocks noGrp="1" noChangeAspect="1"/>
          </p:cNvPicPr>
          <p:nvPr>
            <p:ph idx="1"/>
          </p:nvPr>
        </p:nvPicPr>
        <p:blipFill>
          <a:blip r:embed="rId3"/>
          <a:stretch>
            <a:fillRect/>
          </a:stretch>
        </p:blipFill>
        <p:spPr>
          <a:xfrm>
            <a:off x="391212" y="1558808"/>
            <a:ext cx="4225212" cy="4351338"/>
          </a:xfrm>
          <a:prstGeom prst="rect">
            <a:avLst/>
          </a:prstGeom>
        </p:spPr>
      </p:pic>
    </p:spTree>
    <p:extLst>
      <p:ext uri="{BB962C8B-B14F-4D97-AF65-F5344CB8AC3E}">
        <p14:creationId xmlns:p14="http://schemas.microsoft.com/office/powerpoint/2010/main" val="3137138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AD5E0-9D0B-681F-24CD-AF970ECCC838}"/>
              </a:ext>
            </a:extLst>
          </p:cNvPr>
          <p:cNvSpPr>
            <a:spLocks noGrp="1"/>
          </p:cNvSpPr>
          <p:nvPr>
            <p:ph type="title"/>
          </p:nvPr>
        </p:nvSpPr>
        <p:spPr>
          <a:xfrm>
            <a:off x="222499" y="74160"/>
            <a:ext cx="4964173" cy="662782"/>
          </a:xfrm>
        </p:spPr>
        <p:txBody>
          <a:bodyPr>
            <a:normAutofit fontScale="90000"/>
          </a:bodyPr>
          <a:lstStyle/>
          <a:p>
            <a:r>
              <a:rPr lang="en-US" dirty="0"/>
              <a:t>R</a:t>
            </a:r>
            <a:r>
              <a:rPr lang="en-MA" dirty="0"/>
              <a:t>ecursive relationship : </a:t>
            </a:r>
          </a:p>
        </p:txBody>
      </p:sp>
      <p:pic>
        <p:nvPicPr>
          <p:cNvPr id="5" name="Content Placeholder 4">
            <a:extLst>
              <a:ext uri="{FF2B5EF4-FFF2-40B4-BE49-F238E27FC236}">
                <a16:creationId xmlns:a16="http://schemas.microsoft.com/office/drawing/2014/main" id="{078CC1D2-CEEC-EE09-E2DC-21D431EF56D8}"/>
              </a:ext>
            </a:extLst>
          </p:cNvPr>
          <p:cNvPicPr>
            <a:picLocks noGrp="1" noChangeAspect="1"/>
          </p:cNvPicPr>
          <p:nvPr>
            <p:ph idx="1"/>
          </p:nvPr>
        </p:nvPicPr>
        <p:blipFill>
          <a:blip r:embed="rId2"/>
          <a:stretch>
            <a:fillRect/>
          </a:stretch>
        </p:blipFill>
        <p:spPr>
          <a:xfrm>
            <a:off x="222497" y="736942"/>
            <a:ext cx="4964173" cy="2586718"/>
          </a:xfrm>
          <a:prstGeom prst="rect">
            <a:avLst/>
          </a:prstGeom>
        </p:spPr>
      </p:pic>
      <p:pic>
        <p:nvPicPr>
          <p:cNvPr id="7" name="Picture 6">
            <a:extLst>
              <a:ext uri="{FF2B5EF4-FFF2-40B4-BE49-F238E27FC236}">
                <a16:creationId xmlns:a16="http://schemas.microsoft.com/office/drawing/2014/main" id="{B502FDBA-264C-D0EC-725E-44037A844B49}"/>
              </a:ext>
            </a:extLst>
          </p:cNvPr>
          <p:cNvPicPr>
            <a:picLocks noChangeAspect="1"/>
          </p:cNvPicPr>
          <p:nvPr/>
        </p:nvPicPr>
        <p:blipFill>
          <a:blip r:embed="rId3"/>
          <a:stretch>
            <a:fillRect/>
          </a:stretch>
        </p:blipFill>
        <p:spPr>
          <a:xfrm>
            <a:off x="320141" y="4197122"/>
            <a:ext cx="4768886" cy="2586718"/>
          </a:xfrm>
          <a:prstGeom prst="rect">
            <a:avLst/>
          </a:prstGeom>
        </p:spPr>
      </p:pic>
      <p:sp>
        <p:nvSpPr>
          <p:cNvPr id="8" name="TextBox 7">
            <a:extLst>
              <a:ext uri="{FF2B5EF4-FFF2-40B4-BE49-F238E27FC236}">
                <a16:creationId xmlns:a16="http://schemas.microsoft.com/office/drawing/2014/main" id="{8569B2B8-278D-31C9-4922-71A2B29756F3}"/>
              </a:ext>
            </a:extLst>
          </p:cNvPr>
          <p:cNvSpPr txBox="1"/>
          <p:nvPr/>
        </p:nvSpPr>
        <p:spPr>
          <a:xfrm>
            <a:off x="320141" y="3429000"/>
            <a:ext cx="5173339" cy="584775"/>
          </a:xfrm>
          <a:prstGeom prst="rect">
            <a:avLst/>
          </a:prstGeom>
          <a:noFill/>
        </p:spPr>
        <p:txBody>
          <a:bodyPr wrap="square" rtlCol="0">
            <a:spAutoFit/>
          </a:bodyPr>
          <a:lstStyle/>
          <a:p>
            <a:r>
              <a:rPr lang="en-US" sz="3200" dirty="0"/>
              <a:t>S</a:t>
            </a:r>
            <a:r>
              <a:rPr lang="en-MA" sz="3200" dirty="0"/>
              <a:t>upervision relationship :</a:t>
            </a:r>
          </a:p>
        </p:txBody>
      </p:sp>
      <p:pic>
        <p:nvPicPr>
          <p:cNvPr id="4" name="Picture 3">
            <a:extLst>
              <a:ext uri="{FF2B5EF4-FFF2-40B4-BE49-F238E27FC236}">
                <a16:creationId xmlns:a16="http://schemas.microsoft.com/office/drawing/2014/main" id="{119177F0-3028-0199-9AF3-7FA0F11FEA19}"/>
              </a:ext>
            </a:extLst>
          </p:cNvPr>
          <p:cNvPicPr>
            <a:picLocks noChangeAspect="1"/>
          </p:cNvPicPr>
          <p:nvPr/>
        </p:nvPicPr>
        <p:blipFill>
          <a:blip r:embed="rId4"/>
          <a:stretch>
            <a:fillRect/>
          </a:stretch>
        </p:blipFill>
        <p:spPr>
          <a:xfrm>
            <a:off x="6438258" y="785985"/>
            <a:ext cx="4896973" cy="5870803"/>
          </a:xfrm>
          <a:prstGeom prst="rect">
            <a:avLst/>
          </a:prstGeom>
        </p:spPr>
      </p:pic>
    </p:spTree>
    <p:extLst>
      <p:ext uri="{BB962C8B-B14F-4D97-AF65-F5344CB8AC3E}">
        <p14:creationId xmlns:p14="http://schemas.microsoft.com/office/powerpoint/2010/main" val="3791460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6B71-60D1-469A-BAAF-30463A3AB1A3}"/>
              </a:ext>
            </a:extLst>
          </p:cNvPr>
          <p:cNvSpPr>
            <a:spLocks noGrp="1"/>
          </p:cNvSpPr>
          <p:nvPr>
            <p:ph type="title"/>
          </p:nvPr>
        </p:nvSpPr>
        <p:spPr>
          <a:xfrm>
            <a:off x="533400" y="161926"/>
            <a:ext cx="3966029" cy="1100818"/>
          </a:xfrm>
        </p:spPr>
        <p:txBody>
          <a:bodyPr>
            <a:normAutofit fontScale="90000"/>
          </a:bodyPr>
          <a:lstStyle/>
          <a:p>
            <a:r>
              <a:rPr lang="en-US" dirty="0"/>
              <a:t>H</a:t>
            </a:r>
            <a:r>
              <a:rPr lang="en-MA" dirty="0"/>
              <a:t>ost relationship: </a:t>
            </a:r>
          </a:p>
        </p:txBody>
      </p:sp>
      <p:sp>
        <p:nvSpPr>
          <p:cNvPr id="9" name="TextBox 8">
            <a:extLst>
              <a:ext uri="{FF2B5EF4-FFF2-40B4-BE49-F238E27FC236}">
                <a16:creationId xmlns:a16="http://schemas.microsoft.com/office/drawing/2014/main" id="{AD6498FB-CC1C-68E9-20A7-795BC3F3B9CE}"/>
              </a:ext>
            </a:extLst>
          </p:cNvPr>
          <p:cNvSpPr txBox="1"/>
          <p:nvPr/>
        </p:nvSpPr>
        <p:spPr>
          <a:xfrm>
            <a:off x="5090531" y="429069"/>
            <a:ext cx="4853835" cy="584775"/>
          </a:xfrm>
          <a:prstGeom prst="rect">
            <a:avLst/>
          </a:prstGeom>
          <a:noFill/>
        </p:spPr>
        <p:txBody>
          <a:bodyPr wrap="square" rtlCol="0">
            <a:spAutoFit/>
          </a:bodyPr>
          <a:lstStyle/>
          <a:p>
            <a:r>
              <a:rPr lang="en-US" sz="3200" dirty="0"/>
              <a:t>A</a:t>
            </a:r>
            <a:r>
              <a:rPr lang="en-MA" sz="3200" dirty="0"/>
              <a:t>ttached relationship :  </a:t>
            </a:r>
          </a:p>
        </p:txBody>
      </p:sp>
      <p:pic>
        <p:nvPicPr>
          <p:cNvPr id="6" name="Content Placeholder 5">
            <a:extLst>
              <a:ext uri="{FF2B5EF4-FFF2-40B4-BE49-F238E27FC236}">
                <a16:creationId xmlns:a16="http://schemas.microsoft.com/office/drawing/2014/main" id="{FDC2812E-F3D6-E9FE-FCC3-971BF913D85A}"/>
              </a:ext>
            </a:extLst>
          </p:cNvPr>
          <p:cNvPicPr>
            <a:picLocks noGrp="1" noChangeAspect="1"/>
          </p:cNvPicPr>
          <p:nvPr>
            <p:ph idx="1"/>
          </p:nvPr>
        </p:nvPicPr>
        <p:blipFill>
          <a:blip r:embed="rId2"/>
          <a:stretch>
            <a:fillRect/>
          </a:stretch>
        </p:blipFill>
        <p:spPr>
          <a:xfrm>
            <a:off x="533400" y="1438539"/>
            <a:ext cx="3966028" cy="4736572"/>
          </a:xfrm>
          <a:prstGeom prst="rect">
            <a:avLst/>
          </a:prstGeom>
        </p:spPr>
      </p:pic>
      <p:pic>
        <p:nvPicPr>
          <p:cNvPr id="8" name="Picture 7">
            <a:extLst>
              <a:ext uri="{FF2B5EF4-FFF2-40B4-BE49-F238E27FC236}">
                <a16:creationId xmlns:a16="http://schemas.microsoft.com/office/drawing/2014/main" id="{0D4D8010-D7EC-F0A2-D27D-D7FB3FDF45A3}"/>
              </a:ext>
            </a:extLst>
          </p:cNvPr>
          <p:cNvPicPr>
            <a:picLocks noChangeAspect="1"/>
          </p:cNvPicPr>
          <p:nvPr/>
        </p:nvPicPr>
        <p:blipFill>
          <a:blip r:embed="rId3"/>
          <a:stretch>
            <a:fillRect/>
          </a:stretch>
        </p:blipFill>
        <p:spPr>
          <a:xfrm>
            <a:off x="5090530" y="1438538"/>
            <a:ext cx="6923991" cy="4736571"/>
          </a:xfrm>
          <a:prstGeom prst="rect">
            <a:avLst/>
          </a:prstGeom>
        </p:spPr>
      </p:pic>
    </p:spTree>
    <p:extLst>
      <p:ext uri="{BB962C8B-B14F-4D97-AF65-F5344CB8AC3E}">
        <p14:creationId xmlns:p14="http://schemas.microsoft.com/office/powerpoint/2010/main" val="2342787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A39557-C625-7019-FEA8-797A8DDF8772}"/>
              </a:ext>
            </a:extLst>
          </p:cNvPr>
          <p:cNvSpPr>
            <a:spLocks noGrp="1"/>
          </p:cNvSpPr>
          <p:nvPr>
            <p:ph type="title"/>
          </p:nvPr>
        </p:nvSpPr>
        <p:spPr>
          <a:xfrm>
            <a:off x="630936" y="639520"/>
            <a:ext cx="3429000" cy="1719072"/>
          </a:xfrm>
        </p:spPr>
        <p:txBody>
          <a:bodyPr anchor="b">
            <a:normAutofit/>
          </a:bodyPr>
          <a:lstStyle/>
          <a:p>
            <a:r>
              <a:rPr lang="en-MA" sz="5400" dirty="0"/>
              <a:t>M1 ER Model </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E03B3FF-C681-6881-5A61-2C890EA4EC23}"/>
              </a:ext>
            </a:extLst>
          </p:cNvPr>
          <p:cNvSpPr>
            <a:spLocks noGrp="1"/>
          </p:cNvSpPr>
          <p:nvPr>
            <p:ph idx="1"/>
          </p:nvPr>
        </p:nvSpPr>
        <p:spPr>
          <a:xfrm>
            <a:off x="630936" y="2807208"/>
            <a:ext cx="3429000" cy="3410712"/>
          </a:xfrm>
        </p:spPr>
        <p:txBody>
          <a:bodyPr anchor="t">
            <a:normAutofit/>
          </a:bodyPr>
          <a:lstStyle/>
          <a:p>
            <a:pPr marL="0" indent="0">
              <a:buNone/>
            </a:pPr>
            <a:r>
              <a:rPr lang="en-MA" dirty="0"/>
              <a:t>• People (PE1–PE6)</a:t>
            </a:r>
            <a:endParaRPr lang="en-MA" sz="2400" b="0" dirty="0">
              <a:effectLst/>
            </a:endParaRPr>
          </a:p>
          <a:p>
            <a:pPr marL="0" indent="0">
              <a:buNone/>
            </a:pPr>
            <a:r>
              <a:rPr lang="en-MA" dirty="0"/>
              <a:t>• ISA hierarchies</a:t>
            </a:r>
            <a:endParaRPr lang="en-MA" sz="2400" b="0" dirty="0">
              <a:effectLst/>
            </a:endParaRPr>
          </a:p>
          <a:p>
            <a:pPr marL="0" indent="0">
              <a:buNone/>
            </a:pPr>
            <a:r>
              <a:rPr lang="en-MA" dirty="0"/>
              <a:t>• Laboratories (LA1–LA4)</a:t>
            </a:r>
            <a:endParaRPr lang="en-MA" sz="2400" b="0" dirty="0">
              <a:effectLst/>
            </a:endParaRPr>
          </a:p>
          <a:p>
            <a:pPr marL="0" indent="0">
              <a:buNone/>
            </a:pPr>
            <a:br>
              <a:rPr lang="en-MA" sz="2400" dirty="0"/>
            </a:br>
            <a:endParaRPr lang="en-US" sz="2200" dirty="0"/>
          </a:p>
        </p:txBody>
      </p:sp>
      <p:pic>
        <p:nvPicPr>
          <p:cNvPr id="4" name="Picture 3">
            <a:extLst>
              <a:ext uri="{FF2B5EF4-FFF2-40B4-BE49-F238E27FC236}">
                <a16:creationId xmlns:a16="http://schemas.microsoft.com/office/drawing/2014/main" id="{ECDC0EAE-AACB-EB8F-DB8A-0ED824D90325}"/>
              </a:ext>
            </a:extLst>
          </p:cNvPr>
          <p:cNvPicPr>
            <a:picLocks noChangeAspect="1"/>
          </p:cNvPicPr>
          <p:nvPr/>
        </p:nvPicPr>
        <p:blipFill>
          <a:blip r:embed="rId2"/>
          <a:stretch>
            <a:fillRect/>
          </a:stretch>
        </p:blipFill>
        <p:spPr>
          <a:xfrm>
            <a:off x="4158986" y="555410"/>
            <a:ext cx="7772400" cy="5662510"/>
          </a:xfrm>
          <a:prstGeom prst="rect">
            <a:avLst/>
          </a:prstGeom>
        </p:spPr>
      </p:pic>
    </p:spTree>
    <p:extLst>
      <p:ext uri="{BB962C8B-B14F-4D97-AF65-F5344CB8AC3E}">
        <p14:creationId xmlns:p14="http://schemas.microsoft.com/office/powerpoint/2010/main" val="4687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B41ED2-F69F-E1A4-8392-4804529939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7C404-1D51-F741-D0A8-5A1DCED7BB4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Part 2 — </a:t>
            </a:r>
            <a:r>
              <a:rPr lang="en-US" sz="6600" kern="1200">
                <a:solidFill>
                  <a:schemeClr val="tx1"/>
                </a:solidFill>
                <a:latin typeface="+mj-lt"/>
                <a:ea typeface="+mj-ea"/>
                <a:cs typeface="+mj-cs"/>
              </a:rPr>
              <a:t>Reaserch Projects and Budgets</a:t>
            </a:r>
            <a:endParaRPr lang="en-US" sz="6600"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782DC067-83A3-40D4-2992-6C9F1C2453A9}"/>
              </a:ext>
            </a:extLst>
          </p:cNvPr>
          <p:cNvSpPr>
            <a:spLocks noGrp="1"/>
          </p:cNvSpPr>
          <p:nvPr>
            <p:ph type="body" idx="1"/>
          </p:nvPr>
        </p:nvSpPr>
        <p:spPr>
          <a:xfrm>
            <a:off x="838199" y="4983276"/>
            <a:ext cx="10512552" cy="1126680"/>
          </a:xfrm>
        </p:spPr>
        <p:txBody>
          <a:bodyPr vert="horz" lIns="91440" tIns="45720" rIns="91440" bIns="45720" rtlCol="0">
            <a:normAutofit/>
          </a:bodyPr>
          <a:lstStyle/>
          <a:p>
            <a:pPr marL="228600" indent="-228600">
              <a:buFont typeface="Arial" panose="020B0604020202020204" pitchFamily="34" charset="0"/>
              <a:buChar char="•"/>
            </a:pPr>
            <a:r>
              <a:rPr lang="en-US" kern="1200" dirty="0">
                <a:solidFill>
                  <a:schemeClr val="tx1"/>
                </a:solidFill>
                <a:latin typeface="+mn-lt"/>
                <a:ea typeface="+mn-ea"/>
                <a:cs typeface="+mn-cs"/>
              </a:rPr>
              <a:t>PR1-PR4, BD1-BD3, </a:t>
            </a:r>
            <a:r>
              <a:rPr lang="en-US" dirty="0">
                <a:solidFill>
                  <a:schemeClr val="tx1"/>
                </a:solidFill>
              </a:rPr>
              <a:t>RE1-RE3</a:t>
            </a:r>
            <a:endParaRPr lang="en-US"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6297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9548-C538-6DAE-63AB-3303488C2120}"/>
              </a:ext>
            </a:extLst>
          </p:cNvPr>
          <p:cNvSpPr>
            <a:spLocks noGrp="1"/>
          </p:cNvSpPr>
          <p:nvPr>
            <p:ph type="title"/>
          </p:nvPr>
        </p:nvSpPr>
        <p:spPr>
          <a:xfrm>
            <a:off x="521607" y="0"/>
            <a:ext cx="4474936" cy="937532"/>
          </a:xfrm>
        </p:spPr>
        <p:txBody>
          <a:bodyPr>
            <a:normAutofit/>
          </a:bodyPr>
          <a:lstStyle/>
          <a:p>
            <a:r>
              <a:rPr lang="en-MA" sz="3200" dirty="0"/>
              <a:t>Reaserch project entity : </a:t>
            </a:r>
          </a:p>
        </p:txBody>
      </p:sp>
      <p:sp>
        <p:nvSpPr>
          <p:cNvPr id="3" name="Text Placeholder 2">
            <a:extLst>
              <a:ext uri="{FF2B5EF4-FFF2-40B4-BE49-F238E27FC236}">
                <a16:creationId xmlns:a16="http://schemas.microsoft.com/office/drawing/2014/main" id="{1616BC16-1C51-5DBC-D497-51F6138A1B0E}"/>
              </a:ext>
            </a:extLst>
          </p:cNvPr>
          <p:cNvSpPr>
            <a:spLocks noGrp="1"/>
          </p:cNvSpPr>
          <p:nvPr>
            <p:ph type="body" idx="1"/>
          </p:nvPr>
        </p:nvSpPr>
        <p:spPr>
          <a:xfrm>
            <a:off x="6339116" y="450652"/>
            <a:ext cx="3761012" cy="652008"/>
          </a:xfrm>
        </p:spPr>
        <p:txBody>
          <a:bodyPr>
            <a:normAutofit/>
          </a:bodyPr>
          <a:lstStyle/>
          <a:p>
            <a:r>
              <a:rPr lang="en-MA" sz="3200" dirty="0">
                <a:solidFill>
                  <a:schemeClr val="tx1"/>
                </a:solidFill>
                <a:latin typeface="+mj-lt"/>
              </a:rPr>
              <a:t>Involves relationship : </a:t>
            </a:r>
          </a:p>
        </p:txBody>
      </p:sp>
      <p:pic>
        <p:nvPicPr>
          <p:cNvPr id="5" name="Picture 4">
            <a:extLst>
              <a:ext uri="{FF2B5EF4-FFF2-40B4-BE49-F238E27FC236}">
                <a16:creationId xmlns:a16="http://schemas.microsoft.com/office/drawing/2014/main" id="{B61193D2-D722-A604-70F9-FFD11C47D51F}"/>
              </a:ext>
            </a:extLst>
          </p:cNvPr>
          <p:cNvPicPr>
            <a:picLocks noChangeAspect="1"/>
          </p:cNvPicPr>
          <p:nvPr/>
        </p:nvPicPr>
        <p:blipFill>
          <a:blip r:embed="rId2"/>
          <a:srcRect l="23733" r="27250"/>
          <a:stretch>
            <a:fillRect/>
          </a:stretch>
        </p:blipFill>
        <p:spPr>
          <a:xfrm>
            <a:off x="521607" y="1564527"/>
            <a:ext cx="4035603" cy="4190814"/>
          </a:xfrm>
          <a:prstGeom prst="rect">
            <a:avLst/>
          </a:prstGeom>
        </p:spPr>
      </p:pic>
      <p:pic>
        <p:nvPicPr>
          <p:cNvPr id="7" name="Picture 6">
            <a:extLst>
              <a:ext uri="{FF2B5EF4-FFF2-40B4-BE49-F238E27FC236}">
                <a16:creationId xmlns:a16="http://schemas.microsoft.com/office/drawing/2014/main" id="{1B397BFD-6E70-E841-E49C-3BF57C9ABD33}"/>
              </a:ext>
            </a:extLst>
          </p:cNvPr>
          <p:cNvPicPr>
            <a:picLocks noChangeAspect="1"/>
          </p:cNvPicPr>
          <p:nvPr/>
        </p:nvPicPr>
        <p:blipFill>
          <a:blip r:embed="rId3"/>
          <a:stretch>
            <a:fillRect/>
          </a:stretch>
        </p:blipFill>
        <p:spPr>
          <a:xfrm>
            <a:off x="6096000" y="1390917"/>
            <a:ext cx="4978607" cy="4364423"/>
          </a:xfrm>
          <a:prstGeom prst="rect">
            <a:avLst/>
          </a:prstGeom>
        </p:spPr>
      </p:pic>
    </p:spTree>
    <p:extLst>
      <p:ext uri="{BB962C8B-B14F-4D97-AF65-F5344CB8AC3E}">
        <p14:creationId xmlns:p14="http://schemas.microsoft.com/office/powerpoint/2010/main" val="240165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DB47-CE4B-F6A0-BDDD-9BCB495E4C26}"/>
              </a:ext>
            </a:extLst>
          </p:cNvPr>
          <p:cNvSpPr>
            <a:spLocks noGrp="1"/>
          </p:cNvSpPr>
          <p:nvPr>
            <p:ph type="title"/>
          </p:nvPr>
        </p:nvSpPr>
        <p:spPr>
          <a:xfrm>
            <a:off x="591219" y="387352"/>
            <a:ext cx="7257381" cy="801101"/>
          </a:xfrm>
        </p:spPr>
        <p:txBody>
          <a:bodyPr>
            <a:normAutofit/>
          </a:bodyPr>
          <a:lstStyle/>
          <a:p>
            <a:r>
              <a:rPr lang="en-MA" sz="3200" dirty="0"/>
              <a:t>Badget entity and manage relationship : </a:t>
            </a:r>
          </a:p>
        </p:txBody>
      </p:sp>
      <p:sp>
        <p:nvSpPr>
          <p:cNvPr id="3" name="Text Placeholder 2">
            <a:extLst>
              <a:ext uri="{FF2B5EF4-FFF2-40B4-BE49-F238E27FC236}">
                <a16:creationId xmlns:a16="http://schemas.microsoft.com/office/drawing/2014/main" id="{DFE6420A-A2AE-7E73-F869-51FBEFB54CC0}"/>
              </a:ext>
            </a:extLst>
          </p:cNvPr>
          <p:cNvSpPr>
            <a:spLocks noGrp="1"/>
          </p:cNvSpPr>
          <p:nvPr>
            <p:ph type="body" idx="1"/>
          </p:nvPr>
        </p:nvSpPr>
        <p:spPr>
          <a:xfrm>
            <a:off x="591219" y="8198937"/>
            <a:ext cx="3643897" cy="632242"/>
          </a:xfrm>
        </p:spPr>
        <p:txBody>
          <a:bodyPr/>
          <a:lstStyle/>
          <a:p>
            <a:endParaRPr lang="en-MA" dirty="0"/>
          </a:p>
        </p:txBody>
      </p:sp>
      <p:pic>
        <p:nvPicPr>
          <p:cNvPr id="8" name="Picture 7">
            <a:extLst>
              <a:ext uri="{FF2B5EF4-FFF2-40B4-BE49-F238E27FC236}">
                <a16:creationId xmlns:a16="http://schemas.microsoft.com/office/drawing/2014/main" id="{D6563146-F698-5168-A01B-6486DE3E83C1}"/>
              </a:ext>
            </a:extLst>
          </p:cNvPr>
          <p:cNvPicPr>
            <a:picLocks noChangeAspect="1"/>
          </p:cNvPicPr>
          <p:nvPr/>
        </p:nvPicPr>
        <p:blipFill>
          <a:blip r:embed="rId2"/>
          <a:stretch>
            <a:fillRect/>
          </a:stretch>
        </p:blipFill>
        <p:spPr>
          <a:xfrm>
            <a:off x="1485899" y="1441448"/>
            <a:ext cx="9220202" cy="5029200"/>
          </a:xfrm>
          <a:prstGeom prst="rect">
            <a:avLst/>
          </a:prstGeom>
        </p:spPr>
      </p:pic>
    </p:spTree>
    <p:extLst>
      <p:ext uri="{BB962C8B-B14F-4D97-AF65-F5344CB8AC3E}">
        <p14:creationId xmlns:p14="http://schemas.microsoft.com/office/powerpoint/2010/main" val="95020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09624-011F-AB73-8358-2926728BA0FA}"/>
              </a:ext>
            </a:extLst>
          </p:cNvPr>
          <p:cNvSpPr>
            <a:spLocks noGrp="1"/>
          </p:cNvSpPr>
          <p:nvPr>
            <p:ph type="title"/>
          </p:nvPr>
        </p:nvSpPr>
        <p:spPr>
          <a:xfrm>
            <a:off x="247650" y="488950"/>
            <a:ext cx="10871200" cy="923924"/>
          </a:xfrm>
        </p:spPr>
        <p:txBody>
          <a:bodyPr>
            <a:normAutofit fontScale="90000"/>
          </a:bodyPr>
          <a:lstStyle/>
          <a:p>
            <a:r>
              <a:rPr lang="en-US" dirty="0"/>
              <a:t>R</a:t>
            </a:r>
            <a:r>
              <a:rPr lang="en-MA" dirty="0"/>
              <a:t>eservation entity and relation ships : </a:t>
            </a:r>
          </a:p>
        </p:txBody>
      </p:sp>
      <p:sp>
        <p:nvSpPr>
          <p:cNvPr id="3" name="Text Placeholder 2">
            <a:extLst>
              <a:ext uri="{FF2B5EF4-FFF2-40B4-BE49-F238E27FC236}">
                <a16:creationId xmlns:a16="http://schemas.microsoft.com/office/drawing/2014/main" id="{5D5C3D6F-0778-85CC-40AF-73191C927F58}"/>
              </a:ext>
            </a:extLst>
          </p:cNvPr>
          <p:cNvSpPr>
            <a:spLocks noGrp="1"/>
          </p:cNvSpPr>
          <p:nvPr>
            <p:ph type="body" idx="1"/>
          </p:nvPr>
        </p:nvSpPr>
        <p:spPr>
          <a:xfrm>
            <a:off x="838200" y="9059863"/>
            <a:ext cx="10515600" cy="1500187"/>
          </a:xfrm>
        </p:spPr>
        <p:txBody>
          <a:bodyPr/>
          <a:lstStyle/>
          <a:p>
            <a:endParaRPr lang="en-MA" dirty="0"/>
          </a:p>
        </p:txBody>
      </p:sp>
      <p:pic>
        <p:nvPicPr>
          <p:cNvPr id="5" name="Picture 4">
            <a:extLst>
              <a:ext uri="{FF2B5EF4-FFF2-40B4-BE49-F238E27FC236}">
                <a16:creationId xmlns:a16="http://schemas.microsoft.com/office/drawing/2014/main" id="{F1A305F6-2EC1-5874-BF57-F635D18E0E8A}"/>
              </a:ext>
            </a:extLst>
          </p:cNvPr>
          <p:cNvPicPr>
            <a:picLocks noChangeAspect="1"/>
          </p:cNvPicPr>
          <p:nvPr/>
        </p:nvPicPr>
        <p:blipFill>
          <a:blip r:embed="rId2"/>
          <a:stretch>
            <a:fillRect/>
          </a:stretch>
        </p:blipFill>
        <p:spPr>
          <a:xfrm>
            <a:off x="1641475" y="1592580"/>
            <a:ext cx="8909050" cy="4903470"/>
          </a:xfrm>
          <a:prstGeom prst="rect">
            <a:avLst/>
          </a:prstGeom>
        </p:spPr>
      </p:pic>
    </p:spTree>
    <p:extLst>
      <p:ext uri="{BB962C8B-B14F-4D97-AF65-F5344CB8AC3E}">
        <p14:creationId xmlns:p14="http://schemas.microsoft.com/office/powerpoint/2010/main" val="3620676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64680E-B8C5-D17C-EFD0-299F33C2818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F95DA-BED7-990A-333E-ECEA6B224F71}"/>
              </a:ext>
            </a:extLst>
          </p:cNvPr>
          <p:cNvSpPr>
            <a:spLocks noGrp="1"/>
          </p:cNvSpPr>
          <p:nvPr>
            <p:ph type="title"/>
          </p:nvPr>
        </p:nvSpPr>
        <p:spPr>
          <a:xfrm>
            <a:off x="674396" y="1820799"/>
            <a:ext cx="3571810" cy="2278246"/>
          </a:xfrm>
        </p:spPr>
        <p:txBody>
          <a:bodyPr vert="horz" lIns="91440" tIns="45720" rIns="91440" bIns="45720" rtlCol="0" anchor="b">
            <a:normAutofit/>
          </a:bodyPr>
          <a:lstStyle/>
          <a:p>
            <a:r>
              <a:rPr lang="en-US" sz="6600" kern="1200" dirty="0">
                <a:solidFill>
                  <a:schemeClr val="tx1"/>
                </a:solidFill>
                <a:latin typeface="+mj-lt"/>
                <a:ea typeface="+mj-ea"/>
                <a:cs typeface="+mj-cs"/>
              </a:rPr>
              <a:t>M2 ER Model </a:t>
            </a:r>
          </a:p>
        </p:txBody>
      </p:sp>
      <p:sp>
        <p:nvSpPr>
          <p:cNvPr id="9" name="Content Placeholder 8">
            <a:extLst>
              <a:ext uri="{FF2B5EF4-FFF2-40B4-BE49-F238E27FC236}">
                <a16:creationId xmlns:a16="http://schemas.microsoft.com/office/drawing/2014/main" id="{CB4B5F0F-9A57-1148-A104-58AB6B9BEC78}"/>
              </a:ext>
            </a:extLst>
          </p:cNvPr>
          <p:cNvSpPr>
            <a:spLocks noGrp="1"/>
          </p:cNvSpPr>
          <p:nvPr>
            <p:ph idx="1"/>
          </p:nvPr>
        </p:nvSpPr>
        <p:spPr>
          <a:xfrm>
            <a:off x="638882" y="4631161"/>
            <a:ext cx="3571810" cy="1559327"/>
          </a:xfrm>
        </p:spPr>
        <p:txBody>
          <a:bodyPr vert="horz" lIns="91440" tIns="45720" rIns="91440" bIns="45720" rtlCol="0" anchor="t">
            <a:normAutofit/>
          </a:bodyPr>
          <a:lstStyle/>
          <a:p>
            <a:pPr marL="0" indent="0">
              <a:buNone/>
            </a:pPr>
            <a:r>
              <a:rPr lang="en-US" sz="2400" kern="1200" dirty="0">
                <a:solidFill>
                  <a:schemeClr val="tx1"/>
                </a:solidFill>
                <a:latin typeface="+mn-lt"/>
                <a:ea typeface="+mn-ea"/>
                <a:cs typeface="+mn-cs"/>
              </a:rPr>
              <a:t>PR1-PR4, BD1-BD3, RE1-RE3</a:t>
            </a: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48D7C1E-0B23-F5C0-A590-6B5242031C90}"/>
              </a:ext>
            </a:extLst>
          </p:cNvPr>
          <p:cNvPicPr>
            <a:picLocks noChangeAspect="1"/>
          </p:cNvPicPr>
          <p:nvPr/>
        </p:nvPicPr>
        <p:blipFill>
          <a:blip r:embed="rId2"/>
          <a:stretch>
            <a:fillRect/>
          </a:stretch>
        </p:blipFill>
        <p:spPr>
          <a:xfrm>
            <a:off x="4246206" y="677736"/>
            <a:ext cx="7666394" cy="5512752"/>
          </a:xfrm>
          <a:prstGeom prst="rect">
            <a:avLst/>
          </a:prstGeom>
        </p:spPr>
      </p:pic>
    </p:spTree>
    <p:extLst>
      <p:ext uri="{BB962C8B-B14F-4D97-AF65-F5344CB8AC3E}">
        <p14:creationId xmlns:p14="http://schemas.microsoft.com/office/powerpoint/2010/main" val="4183948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Part 3 — Equipment and Operations</a:t>
            </a:r>
          </a:p>
        </p:txBody>
      </p:sp>
      <p:sp>
        <p:nvSpPr>
          <p:cNvPr id="3" name="Text Placeholder 2"/>
          <p:cNvSpPr>
            <a:spLocks noGrp="1"/>
          </p:cNvSpPr>
          <p:nvPr>
            <p:ph type="body" idx="1"/>
          </p:nvPr>
        </p:nvSpPr>
        <p:spPr>
          <a:xfrm>
            <a:off x="838199" y="4983276"/>
            <a:ext cx="10512552" cy="1126680"/>
          </a:xfrm>
        </p:spPr>
        <p:txBody>
          <a:bodyPr vert="horz" lIns="91440" tIns="45720" rIns="91440" bIns="45720" rtlCol="0">
            <a:normAutofit/>
          </a:bodyPr>
          <a:lstStyle/>
          <a:p>
            <a:r>
              <a:rPr lang="en-US" kern="1200">
                <a:solidFill>
                  <a:schemeClr val="tx1"/>
                </a:solidFill>
                <a:latin typeface="+mn-lt"/>
                <a:ea typeface="+mn-ea"/>
                <a:cs typeface="+mn-cs"/>
              </a:rPr>
              <a:t>EQ1–EQ7, CE1–CE7, MA1–MA3 and CA1–CA4</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Equipment model and equipment unit</a:t>
            </a:r>
          </a:p>
        </p:txBody>
      </p:sp>
      <p:sp>
        <p:nvSpPr>
          <p:cNvPr id="3" name="TextBox 2"/>
          <p:cNvSpPr txBox="1"/>
          <p:nvPr/>
        </p:nvSpPr>
        <p:spPr>
          <a:xfrm>
            <a:off x="8961120" y="384048"/>
            <a:ext cx="2834640" cy="457200"/>
          </a:xfrm>
          <a:prstGeom prst="rect">
            <a:avLst/>
          </a:prstGeom>
          <a:noFill/>
        </p:spPr>
        <p:txBody>
          <a:bodyPr wrap="square">
            <a:spAutoFit/>
          </a:bodyPr>
          <a:lstStyle/>
          <a:p>
            <a:pPr algn="r"/>
            <a:r>
              <a:rPr sz="1400" b="1">
                <a:solidFill>
                  <a:srgbClr val="E97132"/>
                </a:solidFill>
                <a:latin typeface="Aptos"/>
              </a:rPr>
              <a:t>EQ1 · EQ2 · EQ5</a:t>
            </a:r>
          </a:p>
        </p:txBody>
      </p:sp>
      <p:pic>
        <p:nvPicPr>
          <p:cNvPr id="4" name="Picture 3" descr="er_step1.png"/>
          <p:cNvPicPr>
            <a:picLocks noChangeAspect="1"/>
          </p:cNvPicPr>
          <p:nvPr/>
        </p:nvPicPr>
        <p:blipFill>
          <a:blip r:embed="rId3"/>
          <a:stretch>
            <a:fillRect/>
          </a:stretch>
        </p:blipFill>
        <p:spPr>
          <a:xfrm>
            <a:off x="481340" y="1234440"/>
            <a:ext cx="11229320" cy="5349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dirty="0"/>
              <a:t>Who is using a unit</a:t>
            </a:r>
          </a:p>
        </p:txBody>
      </p:sp>
      <p:sp>
        <p:nvSpPr>
          <p:cNvPr id="3" name="TextBox 2"/>
          <p:cNvSpPr txBox="1"/>
          <p:nvPr/>
        </p:nvSpPr>
        <p:spPr>
          <a:xfrm>
            <a:off x="8961120" y="384048"/>
            <a:ext cx="2834640" cy="457200"/>
          </a:xfrm>
          <a:prstGeom prst="rect">
            <a:avLst/>
          </a:prstGeom>
          <a:noFill/>
        </p:spPr>
        <p:txBody>
          <a:bodyPr wrap="square">
            <a:spAutoFit/>
          </a:bodyPr>
          <a:lstStyle/>
          <a:p>
            <a:pPr algn="r"/>
            <a:r>
              <a:rPr sz="1400" b="1" dirty="0">
                <a:solidFill>
                  <a:srgbClr val="E97132"/>
                </a:solidFill>
                <a:latin typeface="Aptos"/>
              </a:rPr>
              <a:t>EQ7</a:t>
            </a:r>
          </a:p>
        </p:txBody>
      </p:sp>
      <p:pic>
        <p:nvPicPr>
          <p:cNvPr id="4" name="Picture 3" descr="er_step3.png"/>
          <p:cNvPicPr>
            <a:picLocks noChangeAspect="1"/>
          </p:cNvPicPr>
          <p:nvPr/>
        </p:nvPicPr>
        <p:blipFill>
          <a:blip r:embed="rId3"/>
          <a:stretch>
            <a:fillRect/>
          </a:stretch>
        </p:blipFill>
        <p:spPr>
          <a:xfrm>
            <a:off x="411480" y="1124712"/>
            <a:ext cx="11229320" cy="5349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Certifications and authorizations</a:t>
            </a:r>
          </a:p>
        </p:txBody>
      </p:sp>
      <p:sp>
        <p:nvSpPr>
          <p:cNvPr id="3" name="TextBox 2"/>
          <p:cNvSpPr txBox="1"/>
          <p:nvPr/>
        </p:nvSpPr>
        <p:spPr>
          <a:xfrm>
            <a:off x="8961120" y="384048"/>
            <a:ext cx="2834640" cy="457200"/>
          </a:xfrm>
          <a:prstGeom prst="rect">
            <a:avLst/>
          </a:prstGeom>
          <a:noFill/>
        </p:spPr>
        <p:txBody>
          <a:bodyPr wrap="square">
            <a:spAutoFit/>
          </a:bodyPr>
          <a:lstStyle/>
          <a:p>
            <a:pPr algn="r"/>
            <a:r>
              <a:rPr sz="1400" b="1">
                <a:solidFill>
                  <a:srgbClr val="E97132"/>
                </a:solidFill>
                <a:latin typeface="Aptos"/>
              </a:rPr>
              <a:t>CE1–CE6</a:t>
            </a:r>
          </a:p>
        </p:txBody>
      </p:sp>
      <p:pic>
        <p:nvPicPr>
          <p:cNvPr id="4" name="Picture 3" descr="er_step4.png"/>
          <p:cNvPicPr>
            <a:picLocks noChangeAspect="1"/>
          </p:cNvPicPr>
          <p:nvPr/>
        </p:nvPicPr>
        <p:blipFill>
          <a:blip r:embed="rId3"/>
          <a:stretch>
            <a:fillRect/>
          </a:stretch>
        </p:blipFill>
        <p:spPr>
          <a:xfrm>
            <a:off x="481340" y="1124712"/>
            <a:ext cx="11229320" cy="5349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Maintenance</a:t>
            </a:r>
          </a:p>
        </p:txBody>
      </p:sp>
      <p:sp>
        <p:nvSpPr>
          <p:cNvPr id="3" name="TextBox 2"/>
          <p:cNvSpPr txBox="1"/>
          <p:nvPr/>
        </p:nvSpPr>
        <p:spPr>
          <a:xfrm>
            <a:off x="8961120" y="384048"/>
            <a:ext cx="2834640" cy="457200"/>
          </a:xfrm>
          <a:prstGeom prst="rect">
            <a:avLst/>
          </a:prstGeom>
          <a:noFill/>
        </p:spPr>
        <p:txBody>
          <a:bodyPr wrap="square">
            <a:spAutoFit/>
          </a:bodyPr>
          <a:lstStyle/>
          <a:p>
            <a:pPr algn="r"/>
            <a:r>
              <a:rPr sz="1400" b="1">
                <a:solidFill>
                  <a:srgbClr val="E97132"/>
                </a:solidFill>
                <a:latin typeface="Aptos"/>
              </a:rPr>
              <a:t>MA1 · MA2 · MA3</a:t>
            </a:r>
          </a:p>
        </p:txBody>
      </p:sp>
      <p:pic>
        <p:nvPicPr>
          <p:cNvPr id="4" name="Picture 3" descr="er_step5.png"/>
          <p:cNvPicPr>
            <a:picLocks noChangeAspect="1"/>
          </p:cNvPicPr>
          <p:nvPr/>
        </p:nvPicPr>
        <p:blipFill>
          <a:blip r:embed="rId3"/>
          <a:stretch>
            <a:fillRect/>
          </a:stretch>
        </p:blipFill>
        <p:spPr>
          <a:xfrm>
            <a:off x="481340" y="1234440"/>
            <a:ext cx="11229320" cy="53492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Calibration records</a:t>
            </a:r>
          </a:p>
        </p:txBody>
      </p:sp>
      <p:sp>
        <p:nvSpPr>
          <p:cNvPr id="3" name="TextBox 2"/>
          <p:cNvSpPr txBox="1"/>
          <p:nvPr/>
        </p:nvSpPr>
        <p:spPr>
          <a:xfrm>
            <a:off x="8961120" y="384048"/>
            <a:ext cx="2834640" cy="457200"/>
          </a:xfrm>
          <a:prstGeom prst="rect">
            <a:avLst/>
          </a:prstGeom>
          <a:noFill/>
        </p:spPr>
        <p:txBody>
          <a:bodyPr wrap="square">
            <a:spAutoFit/>
          </a:bodyPr>
          <a:lstStyle/>
          <a:p>
            <a:pPr algn="r"/>
            <a:r>
              <a:rPr sz="1400" b="1">
                <a:solidFill>
                  <a:srgbClr val="E97132"/>
                </a:solidFill>
                <a:latin typeface="Aptos"/>
              </a:rPr>
              <a:t>CA1–CA4</a:t>
            </a:r>
          </a:p>
        </p:txBody>
      </p:sp>
      <p:pic>
        <p:nvPicPr>
          <p:cNvPr id="4" name="Picture 3" descr="er_step6.png"/>
          <p:cNvPicPr>
            <a:picLocks noChangeAspect="1"/>
          </p:cNvPicPr>
          <p:nvPr/>
        </p:nvPicPr>
        <p:blipFill>
          <a:blip r:embed="rId3"/>
          <a:stretch>
            <a:fillRect/>
          </a:stretch>
        </p:blipFill>
        <p:spPr>
          <a:xfrm>
            <a:off x="481340" y="1234440"/>
            <a:ext cx="11229320" cy="53492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23088" y="1699767"/>
            <a:ext cx="4207968" cy="2263882"/>
          </a:xfrm>
        </p:spPr>
        <p:txBody>
          <a:bodyPr vert="horz" lIns="91440" tIns="45720" rIns="91440" bIns="45720" rtlCol="0" anchor="b">
            <a:normAutofit/>
          </a:bodyPr>
          <a:lstStyle/>
          <a:p>
            <a:r>
              <a:rPr lang="en-US" sz="6600" dirty="0"/>
              <a:t>Part3</a:t>
            </a:r>
            <a:r>
              <a:rPr lang="en-US" sz="6600" kern="1200" dirty="0">
                <a:solidFill>
                  <a:schemeClr val="tx1"/>
                </a:solidFill>
                <a:latin typeface="+mj-lt"/>
                <a:ea typeface="+mj-ea"/>
                <a:cs typeface="+mj-cs"/>
              </a:rPr>
              <a:t> – </a:t>
            </a:r>
            <a:br>
              <a:rPr lang="en-US" sz="6600" kern="1200" dirty="0">
                <a:solidFill>
                  <a:schemeClr val="tx1"/>
                </a:solidFill>
                <a:latin typeface="+mj-lt"/>
                <a:ea typeface="+mj-ea"/>
                <a:cs typeface="+mj-cs"/>
              </a:rPr>
            </a:br>
            <a:r>
              <a:rPr lang="en-US" sz="6600" kern="1200" dirty="0">
                <a:solidFill>
                  <a:schemeClr val="tx1"/>
                </a:solidFill>
                <a:latin typeface="+mj-lt"/>
                <a:ea typeface="+mj-ea"/>
                <a:cs typeface="+mj-cs"/>
              </a:rPr>
              <a:t>ER MODEL</a:t>
            </a:r>
          </a:p>
        </p:txBody>
      </p:sp>
      <p:sp>
        <p:nvSpPr>
          <p:cNvPr id="3" name="TextBox 2"/>
          <p:cNvSpPr txBox="1"/>
          <p:nvPr/>
        </p:nvSpPr>
        <p:spPr>
          <a:xfrm>
            <a:off x="638882" y="4631161"/>
            <a:ext cx="3571810" cy="1559327"/>
          </a:xfrm>
          <a:prstGeom prst="rect">
            <a:avLst/>
          </a:prstGeom>
        </p:spPr>
        <p:txBody>
          <a:bodyPr vert="horz" lIns="91440" tIns="45720" rIns="91440" bIns="45720" rtlCol="0">
            <a:normAutofit/>
          </a:bodyPr>
          <a:lstStyle/>
          <a:p>
            <a:pPr>
              <a:lnSpc>
                <a:spcPct val="90000"/>
              </a:lnSpc>
              <a:spcBef>
                <a:spcPts val="1000"/>
              </a:spcBef>
            </a:pPr>
            <a:r>
              <a:rPr lang="en-US" sz="2400" b="1" kern="1200">
                <a:solidFill>
                  <a:schemeClr val="tx1"/>
                </a:solidFill>
                <a:latin typeface="+mn-lt"/>
                <a:ea typeface="+mn-ea"/>
                <a:cs typeface="+mn-cs"/>
              </a:rPr>
              <a:t>EQ · CE · MA · CA</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r_full.png"/>
          <p:cNvPicPr>
            <a:picLocks noChangeAspect="1"/>
          </p:cNvPicPr>
          <p:nvPr/>
        </p:nvPicPr>
        <p:blipFill>
          <a:blip r:embed="rId3"/>
          <a:stretch>
            <a:fillRect/>
          </a:stretch>
        </p:blipFill>
        <p:spPr>
          <a:xfrm>
            <a:off x="4443444" y="942924"/>
            <a:ext cx="7515804" cy="497215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Part </a:t>
            </a:r>
            <a:r>
              <a:rPr lang="en-US" sz="6600" dirty="0"/>
              <a:t>4</a:t>
            </a:r>
            <a:r>
              <a:rPr lang="en-US" sz="6600" kern="1200" dirty="0">
                <a:solidFill>
                  <a:schemeClr val="tx1"/>
                </a:solidFill>
                <a:latin typeface="+mj-lt"/>
                <a:ea typeface="+mj-ea"/>
                <a:cs typeface="+mj-cs"/>
              </a:rPr>
              <a:t>— Laboratory Consumables and Supply Chain </a:t>
            </a:r>
          </a:p>
        </p:txBody>
      </p:sp>
      <p:sp>
        <p:nvSpPr>
          <p:cNvPr id="3" name="Text Placeholder 2"/>
          <p:cNvSpPr>
            <a:spLocks noGrp="1"/>
          </p:cNvSpPr>
          <p:nvPr>
            <p:ph type="body" idx="1"/>
          </p:nvPr>
        </p:nvSpPr>
        <p:spPr>
          <a:xfrm>
            <a:off x="838199" y="4983276"/>
            <a:ext cx="10512552" cy="1126680"/>
          </a:xfrm>
        </p:spPr>
        <p:txBody>
          <a:bodyPr vert="horz" lIns="91440" tIns="45720" rIns="91440" bIns="45720" rtlCol="0">
            <a:normAutofit/>
          </a:bodyPr>
          <a:lstStyle/>
          <a:p>
            <a:r>
              <a:rPr lang="en-US" kern="1200">
                <a:solidFill>
                  <a:schemeClr val="tx1"/>
                </a:solidFill>
                <a:latin typeface="+mn-lt"/>
                <a:ea typeface="+mn-ea"/>
                <a:cs typeface="+mn-cs"/>
              </a:rPr>
              <a:t>CO1-CO10</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1731-A29A-47E5-EBD9-7327C26BB30F}"/>
              </a:ext>
            </a:extLst>
          </p:cNvPr>
          <p:cNvSpPr>
            <a:spLocks noGrp="1"/>
          </p:cNvSpPr>
          <p:nvPr>
            <p:ph type="title"/>
          </p:nvPr>
        </p:nvSpPr>
        <p:spPr>
          <a:xfrm>
            <a:off x="838200" y="365126"/>
            <a:ext cx="8893629" cy="1039131"/>
          </a:xfrm>
        </p:spPr>
        <p:txBody>
          <a:bodyPr>
            <a:normAutofit/>
          </a:bodyPr>
          <a:lstStyle/>
          <a:p>
            <a:r>
              <a:rPr lang="en-US" sz="3200" dirty="0"/>
              <a:t>Making the consumable Entity and its relationship with Laboratory</a:t>
            </a:r>
          </a:p>
        </p:txBody>
      </p:sp>
      <p:pic>
        <p:nvPicPr>
          <p:cNvPr id="7" name="Content Placeholder 6">
            <a:extLst>
              <a:ext uri="{FF2B5EF4-FFF2-40B4-BE49-F238E27FC236}">
                <a16:creationId xmlns:a16="http://schemas.microsoft.com/office/drawing/2014/main" id="{2C6A4AA1-4620-F6A3-9781-D32CF0DEF620}"/>
              </a:ext>
            </a:extLst>
          </p:cNvPr>
          <p:cNvPicPr>
            <a:picLocks noGrp="1" noChangeAspect="1"/>
          </p:cNvPicPr>
          <p:nvPr>
            <p:ph idx="1"/>
          </p:nvPr>
        </p:nvPicPr>
        <p:blipFill>
          <a:blip r:embed="rId2"/>
          <a:stretch>
            <a:fillRect/>
          </a:stretch>
        </p:blipFill>
        <p:spPr>
          <a:xfrm>
            <a:off x="945851" y="1587679"/>
            <a:ext cx="10300298" cy="4274278"/>
          </a:xfrm>
          <a:prstGeom prst="rect">
            <a:avLst/>
          </a:prstGeom>
        </p:spPr>
      </p:pic>
    </p:spTree>
    <p:extLst>
      <p:ext uri="{BB962C8B-B14F-4D97-AF65-F5344CB8AC3E}">
        <p14:creationId xmlns:p14="http://schemas.microsoft.com/office/powerpoint/2010/main" val="3789074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E4727-F0DC-2D40-A2EB-9740F0C53A33}"/>
              </a:ext>
            </a:extLst>
          </p:cNvPr>
          <p:cNvSpPr>
            <a:spLocks noGrp="1"/>
          </p:cNvSpPr>
          <p:nvPr>
            <p:ph type="title"/>
          </p:nvPr>
        </p:nvSpPr>
        <p:spPr>
          <a:xfrm>
            <a:off x="838200" y="14596"/>
            <a:ext cx="5611586" cy="1325563"/>
          </a:xfrm>
        </p:spPr>
        <p:txBody>
          <a:bodyPr>
            <a:normAutofit/>
          </a:bodyPr>
          <a:lstStyle/>
          <a:p>
            <a:r>
              <a:rPr lang="en-US" sz="3200" dirty="0"/>
              <a:t>Creating the supplier entity : </a:t>
            </a:r>
          </a:p>
        </p:txBody>
      </p:sp>
      <p:pic>
        <p:nvPicPr>
          <p:cNvPr id="4" name="Content Placeholder 3">
            <a:extLst>
              <a:ext uri="{FF2B5EF4-FFF2-40B4-BE49-F238E27FC236}">
                <a16:creationId xmlns:a16="http://schemas.microsoft.com/office/drawing/2014/main" id="{65F198B3-3879-3238-D2CA-A3171531BB64}"/>
              </a:ext>
            </a:extLst>
          </p:cNvPr>
          <p:cNvPicPr>
            <a:picLocks noGrp="1" noChangeAspect="1"/>
          </p:cNvPicPr>
          <p:nvPr>
            <p:ph idx="1"/>
          </p:nvPr>
        </p:nvPicPr>
        <p:blipFill>
          <a:blip r:embed="rId2"/>
          <a:stretch>
            <a:fillRect/>
          </a:stretch>
        </p:blipFill>
        <p:spPr>
          <a:xfrm>
            <a:off x="838200" y="1340159"/>
            <a:ext cx="9535160" cy="5186300"/>
          </a:xfrm>
          <a:prstGeom prst="rect">
            <a:avLst/>
          </a:prstGeom>
        </p:spPr>
      </p:pic>
    </p:spTree>
    <p:extLst>
      <p:ext uri="{BB962C8B-B14F-4D97-AF65-F5344CB8AC3E}">
        <p14:creationId xmlns:p14="http://schemas.microsoft.com/office/powerpoint/2010/main" val="163141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21E-4685-A870-A72E-50FD5223595F}"/>
              </a:ext>
            </a:extLst>
          </p:cNvPr>
          <p:cNvSpPr>
            <a:spLocks noGrp="1"/>
          </p:cNvSpPr>
          <p:nvPr>
            <p:ph type="title"/>
          </p:nvPr>
        </p:nvSpPr>
        <p:spPr/>
        <p:txBody>
          <a:bodyPr>
            <a:normAutofit/>
          </a:bodyPr>
          <a:lstStyle/>
          <a:p>
            <a:r>
              <a:rPr lang="en-US" sz="3600" dirty="0"/>
              <a:t>Making the ternary relationship</a:t>
            </a:r>
          </a:p>
        </p:txBody>
      </p:sp>
      <p:pic>
        <p:nvPicPr>
          <p:cNvPr id="7" name="Content Placeholder 6">
            <a:extLst>
              <a:ext uri="{FF2B5EF4-FFF2-40B4-BE49-F238E27FC236}">
                <a16:creationId xmlns:a16="http://schemas.microsoft.com/office/drawing/2014/main" id="{64F2741F-26C8-43D9-24F4-C6E7F9FDF885}"/>
              </a:ext>
            </a:extLst>
          </p:cNvPr>
          <p:cNvPicPr>
            <a:picLocks noGrp="1" noChangeAspect="1"/>
          </p:cNvPicPr>
          <p:nvPr>
            <p:ph idx="1"/>
          </p:nvPr>
        </p:nvPicPr>
        <p:blipFill>
          <a:blip r:embed="rId2"/>
          <a:stretch>
            <a:fillRect/>
          </a:stretch>
        </p:blipFill>
        <p:spPr>
          <a:xfrm>
            <a:off x="838200" y="1690688"/>
            <a:ext cx="9640956" cy="4954806"/>
          </a:xfrm>
          <a:prstGeom prst="rect">
            <a:avLst/>
          </a:prstGeom>
        </p:spPr>
      </p:pic>
    </p:spTree>
    <p:extLst>
      <p:ext uri="{BB962C8B-B14F-4D97-AF65-F5344CB8AC3E}">
        <p14:creationId xmlns:p14="http://schemas.microsoft.com/office/powerpoint/2010/main" val="2967031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751C-132B-3ED4-024C-1FBA335D4185}"/>
              </a:ext>
            </a:extLst>
          </p:cNvPr>
          <p:cNvSpPr>
            <a:spLocks noGrp="1"/>
          </p:cNvSpPr>
          <p:nvPr>
            <p:ph type="title"/>
          </p:nvPr>
        </p:nvSpPr>
        <p:spPr>
          <a:xfrm>
            <a:off x="838200" y="365125"/>
            <a:ext cx="10180320" cy="797243"/>
          </a:xfrm>
        </p:spPr>
        <p:txBody>
          <a:bodyPr>
            <a:normAutofit/>
          </a:bodyPr>
          <a:lstStyle/>
          <a:p>
            <a:r>
              <a:rPr lang="en-US" sz="2800" dirty="0">
                <a:latin typeface="Aptos"/>
              </a:rPr>
              <a:t>Making the negotiated unit price as an attribute to supplies</a:t>
            </a:r>
          </a:p>
        </p:txBody>
      </p:sp>
      <p:pic>
        <p:nvPicPr>
          <p:cNvPr id="4" name="Content Placeholder 3">
            <a:extLst>
              <a:ext uri="{FF2B5EF4-FFF2-40B4-BE49-F238E27FC236}">
                <a16:creationId xmlns:a16="http://schemas.microsoft.com/office/drawing/2014/main" id="{D564F43D-9977-7DD4-7012-C8DA1CF83C3D}"/>
              </a:ext>
            </a:extLst>
          </p:cNvPr>
          <p:cNvPicPr>
            <a:picLocks noGrp="1" noChangeAspect="1"/>
          </p:cNvPicPr>
          <p:nvPr>
            <p:ph idx="1"/>
          </p:nvPr>
        </p:nvPicPr>
        <p:blipFill>
          <a:blip r:embed="rId2"/>
          <a:stretch>
            <a:fillRect/>
          </a:stretch>
        </p:blipFill>
        <p:spPr>
          <a:xfrm>
            <a:off x="838200" y="1262820"/>
            <a:ext cx="9428480" cy="5230055"/>
          </a:xfrm>
          <a:prstGeom prst="rect">
            <a:avLst/>
          </a:prstGeom>
        </p:spPr>
      </p:pic>
    </p:spTree>
    <p:extLst>
      <p:ext uri="{BB962C8B-B14F-4D97-AF65-F5344CB8AC3E}">
        <p14:creationId xmlns:p14="http://schemas.microsoft.com/office/powerpoint/2010/main" val="4083900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10A23-02C2-6883-D07C-7870256FCC61}"/>
              </a:ext>
            </a:extLst>
          </p:cNvPr>
          <p:cNvSpPr>
            <a:spLocks noGrp="1"/>
          </p:cNvSpPr>
          <p:nvPr>
            <p:ph type="title"/>
          </p:nvPr>
        </p:nvSpPr>
        <p:spPr>
          <a:xfrm>
            <a:off x="838200" y="365125"/>
            <a:ext cx="10993120" cy="949643"/>
          </a:xfrm>
        </p:spPr>
        <p:txBody>
          <a:bodyPr/>
          <a:lstStyle/>
          <a:p>
            <a:r>
              <a:rPr lang="en-US" dirty="0"/>
              <a:t>Making attributes associated with Stock</a:t>
            </a:r>
          </a:p>
        </p:txBody>
      </p:sp>
      <p:pic>
        <p:nvPicPr>
          <p:cNvPr id="4" name="Content Placeholder 3">
            <a:extLst>
              <a:ext uri="{FF2B5EF4-FFF2-40B4-BE49-F238E27FC236}">
                <a16:creationId xmlns:a16="http://schemas.microsoft.com/office/drawing/2014/main" id="{2E28CD13-2DE5-577E-171F-20AE31FE05D3}"/>
              </a:ext>
            </a:extLst>
          </p:cNvPr>
          <p:cNvPicPr>
            <a:picLocks noGrp="1" noChangeAspect="1"/>
          </p:cNvPicPr>
          <p:nvPr>
            <p:ph idx="1"/>
          </p:nvPr>
        </p:nvPicPr>
        <p:blipFill>
          <a:blip r:embed="rId2"/>
          <a:stretch>
            <a:fillRect/>
          </a:stretch>
        </p:blipFill>
        <p:spPr>
          <a:xfrm>
            <a:off x="1361440" y="1344687"/>
            <a:ext cx="9479280" cy="5384334"/>
          </a:xfrm>
          <a:prstGeom prst="rect">
            <a:avLst/>
          </a:prstGeom>
        </p:spPr>
      </p:pic>
    </p:spTree>
    <p:extLst>
      <p:ext uri="{BB962C8B-B14F-4D97-AF65-F5344CB8AC3E}">
        <p14:creationId xmlns:p14="http://schemas.microsoft.com/office/powerpoint/2010/main" val="2493698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49CA-0454-B909-B347-81213F5F53BE}"/>
              </a:ext>
            </a:extLst>
          </p:cNvPr>
          <p:cNvSpPr>
            <a:spLocks noGrp="1"/>
          </p:cNvSpPr>
          <p:nvPr>
            <p:ph type="title"/>
          </p:nvPr>
        </p:nvSpPr>
        <p:spPr>
          <a:xfrm>
            <a:off x="608511" y="-122191"/>
            <a:ext cx="8029304" cy="1706062"/>
          </a:xfrm>
        </p:spPr>
        <p:txBody>
          <a:bodyPr>
            <a:normAutofit/>
          </a:bodyPr>
          <a:lstStyle/>
          <a:p>
            <a:r>
              <a:rPr lang="en-US" sz="3200" dirty="0"/>
              <a:t>Aggregation so that Technical Staff </a:t>
            </a:r>
            <a:br>
              <a:rPr lang="en-US" sz="3200" dirty="0"/>
            </a:br>
            <a:r>
              <a:rPr lang="en-US" sz="3200" dirty="0"/>
              <a:t>can monitor the aggregated stock entity </a:t>
            </a:r>
          </a:p>
        </p:txBody>
      </p:sp>
      <p:pic>
        <p:nvPicPr>
          <p:cNvPr id="4" name="Content Placeholder 3">
            <a:extLst>
              <a:ext uri="{FF2B5EF4-FFF2-40B4-BE49-F238E27FC236}">
                <a16:creationId xmlns:a16="http://schemas.microsoft.com/office/drawing/2014/main" id="{694AB3ED-645C-9118-843A-6D38409DF875}"/>
              </a:ext>
            </a:extLst>
          </p:cNvPr>
          <p:cNvPicPr>
            <a:picLocks noGrp="1" noChangeAspect="1"/>
          </p:cNvPicPr>
          <p:nvPr>
            <p:ph idx="1"/>
          </p:nvPr>
        </p:nvPicPr>
        <p:blipFill>
          <a:blip r:embed="rId2"/>
          <a:stretch>
            <a:fillRect/>
          </a:stretch>
        </p:blipFill>
        <p:spPr>
          <a:xfrm>
            <a:off x="734785" y="1355271"/>
            <a:ext cx="10564585" cy="5312528"/>
          </a:xfrm>
          <a:prstGeom prst="rect">
            <a:avLst/>
          </a:prstGeom>
        </p:spPr>
      </p:pic>
    </p:spTree>
    <p:extLst>
      <p:ext uri="{BB962C8B-B14F-4D97-AF65-F5344CB8AC3E}">
        <p14:creationId xmlns:p14="http://schemas.microsoft.com/office/powerpoint/2010/main" val="3673139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BD83-F97E-BF4E-FC92-A505FA8C96A0}"/>
              </a:ext>
            </a:extLst>
          </p:cNvPr>
          <p:cNvSpPr>
            <a:spLocks noGrp="1"/>
          </p:cNvSpPr>
          <p:nvPr>
            <p:ph type="title"/>
          </p:nvPr>
        </p:nvSpPr>
        <p:spPr>
          <a:xfrm>
            <a:off x="838200" y="273685"/>
            <a:ext cx="10515600" cy="959803"/>
          </a:xfrm>
        </p:spPr>
        <p:txBody>
          <a:bodyPr>
            <a:noAutofit/>
          </a:bodyPr>
          <a:lstStyle/>
          <a:p>
            <a:r>
              <a:rPr lang="en-US" sz="3200" dirty="0">
                <a:highlight>
                  <a:srgbClr val="FFFFFF"/>
                </a:highlight>
                <a:latin typeface="Aptos"/>
              </a:rPr>
              <a:t>Creating the relationship Consume between reservation and consumable and its attribute</a:t>
            </a:r>
            <a:endParaRPr lang="en-US" sz="3200" dirty="0"/>
          </a:p>
        </p:txBody>
      </p:sp>
      <p:pic>
        <p:nvPicPr>
          <p:cNvPr id="4" name="Content Placeholder 3">
            <a:extLst>
              <a:ext uri="{FF2B5EF4-FFF2-40B4-BE49-F238E27FC236}">
                <a16:creationId xmlns:a16="http://schemas.microsoft.com/office/drawing/2014/main" id="{309F6DBC-1474-9378-250F-8DCE61BA2D0B}"/>
              </a:ext>
            </a:extLst>
          </p:cNvPr>
          <p:cNvPicPr>
            <a:picLocks noGrp="1" noChangeAspect="1"/>
          </p:cNvPicPr>
          <p:nvPr>
            <p:ph idx="1"/>
          </p:nvPr>
        </p:nvPicPr>
        <p:blipFill>
          <a:blip r:embed="rId2"/>
          <a:stretch>
            <a:fillRect/>
          </a:stretch>
        </p:blipFill>
        <p:spPr>
          <a:xfrm>
            <a:off x="838200" y="1233488"/>
            <a:ext cx="9682480" cy="5452513"/>
          </a:xfrm>
          <a:prstGeom prst="rect">
            <a:avLst/>
          </a:prstGeom>
        </p:spPr>
      </p:pic>
    </p:spTree>
    <p:extLst>
      <p:ext uri="{BB962C8B-B14F-4D97-AF65-F5344CB8AC3E}">
        <p14:creationId xmlns:p14="http://schemas.microsoft.com/office/powerpoint/2010/main" val="2166025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9B437-5DB2-6589-7186-CD82129050B3}"/>
              </a:ext>
            </a:extLst>
          </p:cNvPr>
          <p:cNvSpPr>
            <a:spLocks noGrp="1"/>
          </p:cNvSpPr>
          <p:nvPr>
            <p:ph type="title"/>
          </p:nvPr>
        </p:nvSpPr>
        <p:spPr>
          <a:xfrm>
            <a:off x="630936" y="639520"/>
            <a:ext cx="3429000" cy="1719072"/>
          </a:xfrm>
        </p:spPr>
        <p:txBody>
          <a:bodyPr anchor="b">
            <a:normAutofit/>
          </a:bodyPr>
          <a:lstStyle/>
          <a:p>
            <a:r>
              <a:rPr lang="en-US" sz="5400" dirty="0"/>
              <a:t>Part4 : ER MODEL </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7610DA45-4B20-1CC5-F5F9-8085F8A63175}"/>
              </a:ext>
            </a:extLst>
          </p:cNvPr>
          <p:cNvSpPr>
            <a:spLocks noGrp="1"/>
          </p:cNvSpPr>
          <p:nvPr>
            <p:ph idx="1"/>
          </p:nvPr>
        </p:nvSpPr>
        <p:spPr>
          <a:xfrm>
            <a:off x="630936" y="2807208"/>
            <a:ext cx="3429000" cy="3410712"/>
          </a:xfrm>
        </p:spPr>
        <p:txBody>
          <a:bodyPr anchor="t">
            <a:normAutofit/>
          </a:bodyPr>
          <a:lstStyle/>
          <a:p>
            <a:r>
              <a:rPr lang="en-US" sz="2200" dirty="0"/>
              <a:t>CO1-CO11</a:t>
            </a:r>
          </a:p>
        </p:txBody>
      </p:sp>
      <p:pic>
        <p:nvPicPr>
          <p:cNvPr id="6" name="Content Placeholder 3">
            <a:extLst>
              <a:ext uri="{FF2B5EF4-FFF2-40B4-BE49-F238E27FC236}">
                <a16:creationId xmlns:a16="http://schemas.microsoft.com/office/drawing/2014/main" id="{9AD56A11-7589-92EC-28B9-57D0F5E24AE9}"/>
              </a:ext>
            </a:extLst>
          </p:cNvPr>
          <p:cNvPicPr>
            <a:picLocks noChangeAspect="1"/>
          </p:cNvPicPr>
          <p:nvPr/>
        </p:nvPicPr>
        <p:blipFill>
          <a:blip r:embed="rId2"/>
          <a:stretch>
            <a:fillRect/>
          </a:stretch>
        </p:blipFill>
        <p:spPr>
          <a:xfrm>
            <a:off x="4115009" y="639800"/>
            <a:ext cx="8021917" cy="5578400"/>
          </a:xfrm>
          <a:prstGeom prst="rect">
            <a:avLst/>
          </a:prstGeom>
        </p:spPr>
      </p:pic>
    </p:spTree>
    <p:extLst>
      <p:ext uri="{BB962C8B-B14F-4D97-AF65-F5344CB8AC3E}">
        <p14:creationId xmlns:p14="http://schemas.microsoft.com/office/powerpoint/2010/main" val="2917527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413FB2-1A50-6C25-BA2C-952FE10BB349}"/>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D8E59-40A7-4119-77DE-52A0919D468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Part 5 </a:t>
            </a:r>
            <a:r>
              <a:rPr lang="en-US" sz="6600" kern="1200">
                <a:solidFill>
                  <a:schemeClr val="tx1"/>
                </a:solidFill>
                <a:latin typeface="+mj-lt"/>
                <a:ea typeface="+mj-ea"/>
                <a:cs typeface="+mj-cs"/>
              </a:rPr>
              <a:t>— Attributes</a:t>
            </a:r>
            <a:endParaRPr lang="en-US" sz="6600"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0FA1C681-0DFF-8332-9B22-6A5C07E5F632}"/>
              </a:ext>
            </a:extLst>
          </p:cNvPr>
          <p:cNvSpPr>
            <a:spLocks noGrp="1"/>
          </p:cNvSpPr>
          <p:nvPr>
            <p:ph type="body" idx="1"/>
          </p:nvPr>
        </p:nvSpPr>
        <p:spPr>
          <a:xfrm>
            <a:off x="838199" y="4983276"/>
            <a:ext cx="10512552" cy="1126680"/>
          </a:xfrm>
        </p:spPr>
        <p:txBody>
          <a:bodyPr vert="horz" lIns="91440" tIns="45720" rIns="91440" bIns="45720" rtlCol="0">
            <a:normAutofit/>
          </a:bodyPr>
          <a:lstStyle/>
          <a:p>
            <a:r>
              <a:rPr lang="en-US" kern="1200">
                <a:solidFill>
                  <a:schemeClr val="tx1"/>
                </a:solidFill>
                <a:latin typeface="+mn-lt"/>
                <a:ea typeface="+mn-ea"/>
                <a:cs typeface="+mn-cs"/>
              </a:rPr>
              <a:t>Entities with their attributes</a:t>
            </a:r>
            <a:endParaRPr lang="en-US" kern="1200" dirty="0">
              <a:solidFill>
                <a:schemeClr val="tx1"/>
              </a:solidFill>
              <a:latin typeface="+mn-lt"/>
              <a:ea typeface="+mn-ea"/>
              <a:cs typeface="+mn-cs"/>
            </a:endParaRPr>
          </a:p>
        </p:txBody>
      </p:sp>
      <p:sp>
        <p:nvSpPr>
          <p:cNvPr id="17"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280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Attributes — Person and Laboratory</a:t>
            </a:r>
          </a:p>
        </p:txBody>
      </p:sp>
      <p:graphicFrame>
        <p:nvGraphicFramePr>
          <p:cNvPr id="4" name="Table 3"/>
          <p:cNvGraphicFramePr>
            <a:graphicFrameLocks noGrp="1"/>
          </p:cNvGraphicFramePr>
          <p:nvPr/>
        </p:nvGraphicFramePr>
        <p:xfrm>
          <a:off x="457200" y="1234440"/>
          <a:ext cx="5440680" cy="2340864"/>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Person</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person_id</a:t>
                      </a:r>
                    </a:p>
                  </a:txBody>
                  <a:tcPr>
                    <a:solidFill>
                      <a:srgbClr val="FFFFFF"/>
                    </a:solidFill>
                  </a:tcPr>
                </a:tc>
                <a:tc>
                  <a:txBody>
                    <a:bodyPr/>
                    <a:lstStyle/>
                    <a:p>
                      <a:r>
                        <a:rPr sz="1200">
                          <a:solidFill>
                            <a:srgbClr val="595959"/>
                          </a:solidFill>
                          <a:latin typeface="Aptos"/>
                        </a:rPr>
                        <a:t>identifier, key</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first_name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last_name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email</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affiliation</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5"/>
                  </a:ext>
                </a:extLst>
              </a:tr>
              <a:tr h="292608">
                <a:tc>
                  <a:txBody>
                    <a:bodyPr/>
                    <a:lstStyle/>
                    <a:p>
                      <a:r>
                        <a:rPr sz="1200">
                          <a:solidFill>
                            <a:srgbClr val="0E2841"/>
                          </a:solidFill>
                          <a:latin typeface="Aptos"/>
                        </a:rPr>
                        <a:t>start_date</a:t>
                      </a:r>
                    </a:p>
                  </a:txBody>
                  <a:tcPr>
                    <a:solidFill>
                      <a:srgbClr val="FFFFFF"/>
                    </a:solidFill>
                  </a:tcPr>
                </a:tc>
                <a:tc>
                  <a:txBody>
                    <a:bodyPr/>
                    <a:lstStyle/>
                    <a:p>
                      <a:r>
                        <a:rPr sz="1200">
                          <a:solidFill>
                            <a:srgbClr val="595959"/>
                          </a:solidFill>
                          <a:latin typeface="Aptos"/>
                        </a:rPr>
                        <a:t>date</a:t>
                      </a:r>
                    </a:p>
                  </a:txBody>
                  <a:tcPr>
                    <a:solidFill>
                      <a:srgbClr val="FFFFFF"/>
                    </a:solidFill>
                  </a:tcPr>
                </a:tc>
                <a:extLst>
                  <a:ext uri="{0D108BD9-81ED-4DB2-BD59-A6C34878D82A}">
                    <a16:rowId xmlns:a16="http://schemas.microsoft.com/office/drawing/2014/main" val="10006"/>
                  </a:ext>
                </a:extLst>
              </a:tr>
              <a:tr h="292608">
                <a:tc>
                  <a:txBody>
                    <a:bodyPr/>
                    <a:lstStyle/>
                    <a:p>
                      <a:r>
                        <a:rPr sz="1200">
                          <a:solidFill>
                            <a:srgbClr val="0E2841"/>
                          </a:solidFill>
                          <a:latin typeface="Aptos"/>
                        </a:rPr>
                        <a:t>end_date</a:t>
                      </a:r>
                    </a:p>
                  </a:txBody>
                  <a:tcPr>
                    <a:solidFill>
                      <a:srgbClr val="FFFFFF"/>
                    </a:solidFill>
                  </a:tcPr>
                </a:tc>
                <a:tc>
                  <a:txBody>
                    <a:bodyPr/>
                    <a:lstStyle/>
                    <a:p>
                      <a:r>
                        <a:rPr sz="1200">
                          <a:solidFill>
                            <a:srgbClr val="595959"/>
                          </a:solidFill>
                          <a:latin typeface="Aptos"/>
                        </a:rPr>
                        <a:t>date, optional</a:t>
                      </a:r>
                    </a:p>
                  </a:txBody>
                  <a:tcPr>
                    <a:solidFill>
                      <a:srgbClr val="FFFFFF"/>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291072" y="1234440"/>
          <a:ext cx="5440680" cy="1755648"/>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Laboratory</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lab_id</a:t>
                      </a:r>
                    </a:p>
                  </a:txBody>
                  <a:tcPr>
                    <a:solidFill>
                      <a:srgbClr val="FFFFFF"/>
                    </a:solidFill>
                  </a:tcPr>
                </a:tc>
                <a:tc>
                  <a:txBody>
                    <a:bodyPr/>
                    <a:lstStyle/>
                    <a:p>
                      <a:r>
                        <a:rPr sz="1200">
                          <a:solidFill>
                            <a:srgbClr val="595959"/>
                          </a:solidFill>
                          <a:latin typeface="Aptos"/>
                        </a:rPr>
                        <a:t>identifier, key</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name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building</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room_nb</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discipline</a:t>
                      </a:r>
                    </a:p>
                  </a:txBody>
                  <a:tcPr>
                    <a:solidFill>
                      <a:srgbClr val="FFFFFF"/>
                    </a:solidFill>
                  </a:tcPr>
                </a:tc>
                <a:tc>
                  <a:txBody>
                    <a:bodyPr/>
                    <a:lstStyle/>
                    <a:p>
                      <a:r>
                        <a:rPr sz="1200">
                          <a:solidFill>
                            <a:srgbClr val="595959"/>
                          </a:solidFill>
                          <a:latin typeface="Aptos"/>
                        </a:rPr>
                        <a:t>research area</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5440680"/>
            <a:ext cx="11155680" cy="1097280"/>
          </a:xfrm>
          <a:prstGeom prst="rect">
            <a:avLst/>
          </a:prstGeom>
          <a:noFill/>
        </p:spPr>
        <p:txBody>
          <a:bodyPr wrap="square">
            <a:spAutoFit/>
          </a:bodyPr>
          <a:lstStyle/>
          <a:p>
            <a:r>
              <a:rPr sz="1300" b="1">
                <a:solidFill>
                  <a:srgbClr val="0E2841"/>
                </a:solidFill>
                <a:latin typeface="Aptos"/>
              </a:rPr>
              <a:t>Subclasses:  </a:t>
            </a:r>
            <a:r>
              <a:rPr sz="1250">
                <a:solidFill>
                  <a:srgbClr val="595959"/>
                </a:solidFill>
                <a:latin typeface="Aptos"/>
              </a:rPr>
              <a:t>Student adds program (BSc, BEng, MSc, PhD) from PE3, Employee adds phone and office_space from PE4. The leaf subclasses add nothing of their own, they only say which position the employee holds. None of the four relationship sets of part 1 has attributes.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95300" y="320040"/>
            <a:ext cx="11155680" cy="548640"/>
          </a:xfrm>
          <a:prstGeom prst="rect">
            <a:avLst/>
          </a:prstGeom>
          <a:noFill/>
          <a:ln/>
        </p:spPr>
        <p:txBody>
          <a:bodyPr wrap="square" lIns="0" tIns="0" rIns="0" bIns="0" rtlCol="0" anchor="ctr"/>
          <a:lstStyle/>
          <a:p>
            <a:pPr marL="0" indent="0">
              <a:buNone/>
            </a:pPr>
            <a:r>
              <a:rPr lang="en-US" sz="2800" b="1" dirty="0">
                <a:solidFill>
                  <a:srgbClr val="000000"/>
                </a:solidFill>
                <a:latin typeface="Aptos Display" pitchFamily="34" charset="0"/>
                <a:ea typeface="Aptos Display" pitchFamily="34" charset="-122"/>
                <a:cs typeface="Aptos Display" pitchFamily="34" charset="-120"/>
              </a:rPr>
              <a:t>Attributes — Research Project and Participation</a:t>
            </a:r>
            <a:endParaRPr lang="en-US" sz="2800" dirty="0"/>
          </a:p>
        </p:txBody>
      </p:sp>
      <p:graphicFrame>
        <p:nvGraphicFramePr>
          <p:cNvPr id="4" name="Table 0"/>
          <p:cNvGraphicFramePr>
            <a:graphicFrameLocks noGrp="1"/>
          </p:cNvGraphicFramePr>
          <p:nvPr/>
        </p:nvGraphicFramePr>
        <p:xfrm>
          <a:off x="464820" y="1242060"/>
          <a:ext cx="5425440" cy="1852168"/>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Research_Project</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b="1" u="sng" dirty="0">
                          <a:solidFill>
                            <a:srgbClr val="0E2841"/>
                          </a:solidFill>
                          <a:latin typeface="Aptos" pitchFamily="34" charset="0"/>
                          <a:ea typeface="Aptos" pitchFamily="34" charset="-122"/>
                          <a:cs typeface="Aptos" pitchFamily="34" charset="-120"/>
                        </a:rPr>
                        <a:t>project_code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identifier, key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title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start_date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end_date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420624">
                <a:tc>
                  <a:txBody>
                    <a:bodyPr/>
                    <a:lstStyle/>
                    <a:p>
                      <a:pPr marL="0" indent="0">
                        <a:buNone/>
                      </a:pPr>
                      <a:r>
                        <a:rPr lang="en-US" sz="1200" dirty="0">
                          <a:solidFill>
                            <a:srgbClr val="0E2841"/>
                          </a:solidFill>
                          <a:latin typeface="Aptos" pitchFamily="34" charset="0"/>
                          <a:ea typeface="Aptos" pitchFamily="34" charset="-122"/>
                          <a:cs typeface="Aptos" pitchFamily="34" charset="-120"/>
                        </a:rPr>
                        <a:t>status</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Proposed, Active, Suspended,</a:t>
                      </a:r>
                      <a:endParaRPr lang="en-US" sz="1200" dirty="0">
                        <a:latin typeface="Aptos" charset="0"/>
                        <a:ea typeface="Aptos" charset="0"/>
                        <a:cs typeface="Aptos" charset="0"/>
                      </a:endParaRPr>
                    </a:p>
                    <a:p>
                      <a:pPr marL="0" indent="0">
                        <a:buNone/>
                      </a:pPr>
                      <a:r>
                        <a:rPr lang="en-US" sz="1200" dirty="0">
                          <a:solidFill>
                            <a:srgbClr val="595959"/>
                          </a:solidFill>
                          <a:latin typeface="Aptos" pitchFamily="34" charset="0"/>
                          <a:ea typeface="Aptos" pitchFamily="34" charset="-122"/>
                          <a:cs typeface="Aptos" pitchFamily="34" charset="-120"/>
                        </a:rPr>
                        <a:t>Completed, Cancelled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bl>
          </a:graphicData>
        </a:graphic>
      </p:graphicFrame>
      <p:graphicFrame>
        <p:nvGraphicFramePr>
          <p:cNvPr id="3" name="Table 1"/>
          <p:cNvGraphicFramePr>
            <a:graphicFrameLocks noGrp="1"/>
          </p:cNvGraphicFramePr>
          <p:nvPr/>
        </p:nvGraphicFramePr>
        <p:xfrm>
          <a:off x="6294120" y="1242060"/>
          <a:ext cx="5425440" cy="556006"/>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Participates_in  (Research_Project – Person)</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role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PI, Co-PI, Collaborator</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bl>
          </a:graphicData>
        </a:graphic>
      </p:graphicFrame>
      <p:sp>
        <p:nvSpPr>
          <p:cNvPr id="5" name="Text 1"/>
          <p:cNvSpPr txBox="1"/>
          <p:nvPr/>
        </p:nvSpPr>
        <p:spPr>
          <a:xfrm>
            <a:off x="594360" y="5486400"/>
            <a:ext cx="10972800" cy="548640"/>
          </a:xfrm>
          <a:prstGeom prst="rect">
            <a:avLst/>
          </a:prstGeom>
          <a:noFill/>
          <a:ln/>
        </p:spPr>
        <p:txBody>
          <a:bodyPr wrap="square" lIns="0" tIns="0" rIns="0" bIns="0" rtlCol="0" anchor="t"/>
          <a:lstStyle/>
          <a:p>
            <a:pPr marL="0" indent="0">
              <a:buNone/>
            </a:pPr>
            <a:r>
              <a:rPr lang="en-US" sz="1200" b="1" dirty="0">
                <a:solidFill>
                  <a:srgbClr val="0E2841"/>
                </a:solidFill>
                <a:latin typeface="Aptos" pitchFamily="34" charset="0"/>
                <a:ea typeface="Aptos" pitchFamily="34" charset="-122"/>
                <a:cs typeface="Aptos" pitchFamily="34" charset="-120"/>
              </a:rPr>
              <a:t>Subclasses:  </a:t>
            </a:r>
            <a:r>
              <a:rPr lang="en-US" sz="1200" dirty="0">
                <a:solidFill>
                  <a:srgbClr val="595959"/>
                </a:solidFill>
                <a:latin typeface="Aptos" pitchFamily="34" charset="0"/>
                <a:ea typeface="Aptos" pitchFamily="34" charset="-122"/>
                <a:cs typeface="Aptos" pitchFamily="34" charset="-120"/>
              </a:rPr>
              <a:t>Academic_Staff, from part 1, supplies the PI and the Co-PI and adds nothing of its own. Participates_in is the only relationship set of this part with an attribute, and a person plays exactly one role in each project.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95300" y="320040"/>
            <a:ext cx="11155680" cy="548640"/>
          </a:xfrm>
          <a:prstGeom prst="rect">
            <a:avLst/>
          </a:prstGeom>
          <a:noFill/>
          <a:ln/>
        </p:spPr>
        <p:txBody>
          <a:bodyPr wrap="square" lIns="0" tIns="0" rIns="0" bIns="0" rtlCol="0" anchor="ctr"/>
          <a:lstStyle/>
          <a:p>
            <a:pPr marL="0" indent="0">
              <a:buNone/>
            </a:pPr>
            <a:r>
              <a:rPr lang="en-US" sz="2800" b="1" dirty="0">
                <a:solidFill>
                  <a:srgbClr val="000000"/>
                </a:solidFill>
                <a:latin typeface="Aptos Display" pitchFamily="34" charset="0"/>
                <a:ea typeface="Aptos Display" pitchFamily="34" charset="-122"/>
                <a:cs typeface="Aptos Display" pitchFamily="34" charset="-120"/>
              </a:rPr>
              <a:t>Attributes — Budget and Reservation</a:t>
            </a:r>
            <a:endParaRPr lang="en-US" sz="2800" dirty="0"/>
          </a:p>
        </p:txBody>
      </p:sp>
      <p:graphicFrame>
        <p:nvGraphicFramePr>
          <p:cNvPr id="3" name="Table 0"/>
          <p:cNvGraphicFramePr>
            <a:graphicFrameLocks noGrp="1"/>
          </p:cNvGraphicFramePr>
          <p:nvPr/>
        </p:nvGraphicFramePr>
        <p:xfrm>
          <a:off x="464820" y="1242060"/>
          <a:ext cx="5425440" cy="1723390"/>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Budget</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b="1" u="sng" dirty="0">
                          <a:solidFill>
                            <a:srgbClr val="0E2841"/>
                          </a:solidFill>
                          <a:latin typeface="Aptos" pitchFamily="34" charset="0"/>
                          <a:ea typeface="Aptos" pitchFamily="34" charset="-122"/>
                          <a:cs typeface="Aptos" pitchFamily="34" charset="-120"/>
                        </a:rPr>
                        <a:t>budgetary_line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identifier, key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granted_amount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money amount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disbursed_amount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money amount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start_date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end_date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bl>
          </a:graphicData>
        </a:graphic>
      </p:graphicFrame>
      <p:graphicFrame>
        <p:nvGraphicFramePr>
          <p:cNvPr id="5" name="Table 1"/>
          <p:cNvGraphicFramePr>
            <a:graphicFrameLocks noGrp="1"/>
          </p:cNvGraphicFramePr>
          <p:nvPr/>
        </p:nvGraphicFramePr>
        <p:xfrm>
          <a:off x="6294120" y="1242060"/>
          <a:ext cx="5425440" cy="2144014"/>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Reservation</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b="1" u="sng" dirty="0">
                          <a:solidFill>
                            <a:srgbClr val="0E2841"/>
                          </a:solidFill>
                          <a:latin typeface="Aptos" pitchFamily="34" charset="0"/>
                          <a:ea typeface="Aptos" pitchFamily="34" charset="-122"/>
                          <a:cs typeface="Aptos" pitchFamily="34" charset="-120"/>
                        </a:rPr>
                        <a:t>reservation_id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identifier, key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submission_ts</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timestamp</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planned_start_ts</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timestamp</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planned_end_ts</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timestamp</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purpose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r h="420624">
                <a:tc>
                  <a:txBody>
                    <a:bodyPr/>
                    <a:lstStyle/>
                    <a:p>
                      <a:pPr marL="0" indent="0">
                        <a:buNone/>
                      </a:pPr>
                      <a:r>
                        <a:rPr lang="en-US" sz="1200" dirty="0">
                          <a:solidFill>
                            <a:srgbClr val="0E2841"/>
                          </a:solidFill>
                          <a:latin typeface="Aptos" pitchFamily="34" charset="0"/>
                          <a:ea typeface="Aptos" pitchFamily="34" charset="-122"/>
                          <a:cs typeface="Aptos" pitchFamily="34" charset="-120"/>
                        </a:rPr>
                        <a:t>status</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Pending, Approved, Rejected,</a:t>
                      </a:r>
                      <a:endParaRPr lang="en-US" sz="1200" dirty="0">
                        <a:latin typeface="Aptos" charset="0"/>
                        <a:ea typeface="Aptos" charset="0"/>
                        <a:cs typeface="Aptos" charset="0"/>
                      </a:endParaRPr>
                    </a:p>
                    <a:p>
                      <a:pPr marL="0" indent="0">
                        <a:buNone/>
                      </a:pPr>
                      <a:r>
                        <a:rPr lang="en-US" sz="1200" dirty="0">
                          <a:solidFill>
                            <a:srgbClr val="595959"/>
                          </a:solidFill>
                          <a:latin typeface="Aptos" pitchFamily="34" charset="0"/>
                          <a:ea typeface="Aptos" pitchFamily="34" charset="-122"/>
                          <a:cs typeface="Aptos" pitchFamily="34" charset="-120"/>
                        </a:rPr>
                        <a:t>Cancelled, Completed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bl>
          </a:graphicData>
        </a:graphic>
      </p:graphicFrame>
      <p:sp>
        <p:nvSpPr>
          <p:cNvPr id="4" name="Text 1"/>
          <p:cNvSpPr txBox="1"/>
          <p:nvPr/>
        </p:nvSpPr>
        <p:spPr>
          <a:xfrm>
            <a:off x="594360" y="5486400"/>
            <a:ext cx="10972800" cy="548640"/>
          </a:xfrm>
          <a:prstGeom prst="rect">
            <a:avLst/>
          </a:prstGeom>
          <a:noFill/>
          <a:ln/>
        </p:spPr>
        <p:txBody>
          <a:bodyPr wrap="square" lIns="0" tIns="0" rIns="0" bIns="0" rtlCol="0" anchor="t"/>
          <a:lstStyle/>
          <a:p>
            <a:pPr marL="0" indent="0">
              <a:buNone/>
            </a:pPr>
            <a:r>
              <a:rPr lang="en-US" sz="1200" b="1" dirty="0">
                <a:solidFill>
                  <a:srgbClr val="0E2841"/>
                </a:solidFill>
                <a:latin typeface="Aptos" pitchFamily="34" charset="0"/>
                <a:ea typeface="Aptos" pitchFamily="34" charset="-122"/>
                <a:cs typeface="Aptos" pitchFamily="34" charset="-120"/>
              </a:rPr>
              <a:t>Subclasses:  </a:t>
            </a:r>
            <a:r>
              <a:rPr lang="en-US" sz="1200" dirty="0">
                <a:solidFill>
                  <a:srgbClr val="595959"/>
                </a:solidFill>
                <a:latin typeface="Aptos" pitchFamily="34" charset="0"/>
                <a:ea typeface="Aptos" pitchFamily="34" charset="-122"/>
                <a:cs typeface="Aptos" pitchFamily="34" charset="-120"/>
              </a:rPr>
              <a:t>Approver, a person designated by the dean, adds nothing of its own. None of the relationship sets of these two parts (Manages, Funds_Project, Funds_Lab, and the reservation links to person, project, equipment unit and approver) has attributes.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Attributes — Equipment</a:t>
            </a:r>
          </a:p>
        </p:txBody>
      </p:sp>
      <p:graphicFrame>
        <p:nvGraphicFramePr>
          <p:cNvPr id="4" name="Table 3"/>
          <p:cNvGraphicFramePr>
            <a:graphicFrameLocks noGrp="1"/>
          </p:cNvGraphicFramePr>
          <p:nvPr/>
        </p:nvGraphicFramePr>
        <p:xfrm>
          <a:off x="457200" y="1234440"/>
          <a:ext cx="5440680" cy="2048256"/>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Equipment_Model</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model_id</a:t>
                      </a:r>
                    </a:p>
                  </a:txBody>
                  <a:tcPr>
                    <a:solidFill>
                      <a:srgbClr val="FFFFFF"/>
                    </a:solidFill>
                  </a:tcPr>
                </a:tc>
                <a:tc>
                  <a:txBody>
                    <a:bodyPr/>
                    <a:lstStyle/>
                    <a:p>
                      <a:r>
                        <a:rPr sz="1200">
                          <a:solidFill>
                            <a:srgbClr val="595959"/>
                          </a:solidFill>
                          <a:latin typeface="Aptos"/>
                        </a:rPr>
                        <a:t>identifier, key</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commercial_name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manufacturer</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category</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required_environment</a:t>
                      </a:r>
                    </a:p>
                  </a:txBody>
                  <a:tcPr>
                    <a:solidFill>
                      <a:srgbClr val="FFFFFF"/>
                    </a:solidFill>
                  </a:tcPr>
                </a:tc>
                <a:tc>
                  <a:txBody>
                    <a:bodyPr/>
                    <a:lstStyle/>
                    <a:p>
                      <a:r>
                        <a:rPr sz="1200">
                          <a:solidFill>
                            <a:srgbClr val="595959"/>
                          </a:solidFill>
                          <a:latin typeface="Aptos"/>
                        </a:rPr>
                        <a:t>fume hood, 4 °C, ...</a:t>
                      </a:r>
                    </a:p>
                  </a:txBody>
                  <a:tcPr>
                    <a:solidFill>
                      <a:srgbClr val="FFFFFF"/>
                    </a:solidFill>
                  </a:tcPr>
                </a:tc>
                <a:extLst>
                  <a:ext uri="{0D108BD9-81ED-4DB2-BD59-A6C34878D82A}">
                    <a16:rowId xmlns:a16="http://schemas.microsoft.com/office/drawing/2014/main" val="10005"/>
                  </a:ext>
                </a:extLst>
              </a:tr>
              <a:tr h="292608">
                <a:tc>
                  <a:txBody>
                    <a:bodyPr/>
                    <a:lstStyle/>
                    <a:p>
                      <a:r>
                        <a:rPr sz="1200">
                          <a:solidFill>
                            <a:srgbClr val="0E2841"/>
                          </a:solidFill>
                          <a:latin typeface="Aptos"/>
                        </a:rPr>
                        <a:t>training_mandatory</a:t>
                      </a:r>
                    </a:p>
                  </a:txBody>
                  <a:tcPr>
                    <a:solidFill>
                      <a:srgbClr val="FFFFFF"/>
                    </a:solidFill>
                  </a:tcPr>
                </a:tc>
                <a:tc>
                  <a:txBody>
                    <a:bodyPr/>
                    <a:lstStyle/>
                    <a:p>
                      <a:r>
                        <a:rPr sz="1200">
                          <a:solidFill>
                            <a:srgbClr val="595959"/>
                          </a:solidFill>
                          <a:latin typeface="Aptos"/>
                        </a:rPr>
                        <a:t>boolean</a:t>
                      </a:r>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nvGraphicFramePr>
        <p:xfrm>
          <a:off x="6291072" y="1234440"/>
          <a:ext cx="5440680" cy="1920240"/>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Equipment_Unit</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serial_nb</a:t>
                      </a:r>
                    </a:p>
                  </a:txBody>
                  <a:tcPr>
                    <a:solidFill>
                      <a:srgbClr val="FFFFFF"/>
                    </a:solidFill>
                  </a:tcPr>
                </a:tc>
                <a:tc>
                  <a:txBody>
                    <a:bodyPr/>
                    <a:lstStyle/>
                    <a:p>
                      <a:r>
                        <a:rPr sz="1200">
                          <a:solidFill>
                            <a:srgbClr val="595959"/>
                          </a:solidFill>
                          <a:latin typeface="Aptos"/>
                        </a:rPr>
                        <a:t>identifier, key</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acquisition_date</a:t>
                      </a:r>
                    </a:p>
                  </a:txBody>
                  <a:tcPr>
                    <a:solidFill>
                      <a:srgbClr val="FFFFFF"/>
                    </a:solidFill>
                  </a:tcPr>
                </a:tc>
                <a:tc>
                  <a:txBody>
                    <a:bodyPr/>
                    <a:lstStyle/>
                    <a:p>
                      <a:r>
                        <a:rPr sz="1200">
                          <a:solidFill>
                            <a:srgbClr val="595959"/>
                          </a:solidFill>
                          <a:latin typeface="Aptos"/>
                        </a:rPr>
                        <a:t>date</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purchase_cost</a:t>
                      </a:r>
                    </a:p>
                  </a:txBody>
                  <a:tcPr>
                    <a:solidFill>
                      <a:srgbClr val="FFFFFF"/>
                    </a:solidFill>
                  </a:tcPr>
                </a:tc>
                <a:tc>
                  <a:txBody>
                    <a:bodyPr/>
                    <a:lstStyle/>
                    <a:p>
                      <a:r>
                        <a:rPr sz="1200">
                          <a:solidFill>
                            <a:srgbClr val="595959"/>
                          </a:solidFill>
                          <a:latin typeface="Aptos"/>
                        </a:rPr>
                        <a:t>decimal</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op_status</a:t>
                      </a:r>
                    </a:p>
                  </a:txBody>
                  <a:tcPr>
                    <a:solidFill>
                      <a:srgbClr val="FFFFFF"/>
                    </a:solidFill>
                  </a:tcPr>
                </a:tc>
                <a:tc>
                  <a:txBody>
                    <a:bodyPr/>
                    <a:lstStyle/>
                    <a:p>
                      <a:r>
                        <a:rPr sz="1200">
                          <a:solidFill>
                            <a:srgbClr val="595959"/>
                          </a:solidFill>
                          <a:latin typeface="Aptos"/>
                        </a:rPr>
                        <a:t>InService / UnderMaintenance / OutOfService / Retired</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is_portable</a:t>
                      </a:r>
                    </a:p>
                  </a:txBody>
                  <a:tcPr>
                    <a:solidFill>
                      <a:srgbClr val="FFFFFF"/>
                    </a:solidFill>
                  </a:tcPr>
                </a:tc>
                <a:tc>
                  <a:txBody>
                    <a:bodyPr/>
                    <a:lstStyle/>
                    <a:p>
                      <a:r>
                        <a:rPr sz="1200">
                          <a:solidFill>
                            <a:srgbClr val="595959"/>
                          </a:solidFill>
                          <a:latin typeface="Aptos"/>
                        </a:rPr>
                        <a:t>Portable / Fixed  (EQ6)</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5440680"/>
            <a:ext cx="11155680" cy="1097280"/>
          </a:xfrm>
          <a:prstGeom prst="rect">
            <a:avLst/>
          </a:prstGeom>
          <a:noFill/>
        </p:spPr>
        <p:txBody>
          <a:bodyPr wrap="square">
            <a:spAutoFit/>
          </a:bodyPr>
          <a:lstStyle/>
          <a:p>
            <a:r>
              <a:rPr sz="1300" b="1">
                <a:solidFill>
                  <a:srgbClr val="0E2841"/>
                </a:solidFill>
                <a:latin typeface="Aptos"/>
              </a:rPr>
              <a:t>Why is_portable is an attribute and not an ISA:  </a:t>
            </a:r>
            <a:r>
              <a:rPr sz="1250">
                <a:solidFill>
                  <a:srgbClr val="595959"/>
                </a:solidFill>
                <a:latin typeface="Aptos"/>
              </a:rPr>
              <a:t>portable and fixed units have no attributes of their own and take part in exactly the same relationships, so the two subclasses would have been empty.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Attributes — Certification and Hold</a:t>
            </a:r>
          </a:p>
        </p:txBody>
      </p:sp>
      <p:graphicFrame>
        <p:nvGraphicFramePr>
          <p:cNvPr id="4" name="Table 3"/>
          <p:cNvGraphicFramePr>
            <a:graphicFrameLocks noGrp="1"/>
          </p:cNvGraphicFramePr>
          <p:nvPr/>
        </p:nvGraphicFramePr>
        <p:xfrm>
          <a:off x="457200" y="1234440"/>
          <a:ext cx="5440680" cy="1755648"/>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Certification</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code</a:t>
                      </a:r>
                    </a:p>
                  </a:txBody>
                  <a:tcPr>
                    <a:solidFill>
                      <a:srgbClr val="FFFFFF"/>
                    </a:solidFill>
                  </a:tcPr>
                </a:tc>
                <a:tc>
                  <a:txBody>
                    <a:bodyPr/>
                    <a:lstStyle/>
                    <a:p>
                      <a:r>
                        <a:rPr sz="1200">
                          <a:solidFill>
                            <a:srgbClr val="595959"/>
                          </a:solidFill>
                          <a:latin typeface="Aptos"/>
                        </a:rPr>
                        <a:t>identifier, key</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title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issuing_authority</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validity_period</a:t>
                      </a:r>
                    </a:p>
                  </a:txBody>
                  <a:tcPr>
                    <a:solidFill>
                      <a:srgbClr val="FFFFFF"/>
                    </a:solidFill>
                  </a:tcPr>
                </a:tc>
                <a:tc>
                  <a:txBody>
                    <a:bodyPr/>
                    <a:lstStyle/>
                    <a:p>
                      <a:r>
                        <a:rPr sz="1200">
                          <a:solidFill>
                            <a:srgbClr val="595959"/>
                          </a:solidFill>
                          <a:latin typeface="Aptos"/>
                        </a:rPr>
                        <a:t>duration in months</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safety_level</a:t>
                      </a:r>
                    </a:p>
                  </a:txBody>
                  <a:tcPr>
                    <a:solidFill>
                      <a:srgbClr val="FFFFFF"/>
                    </a:solidFill>
                  </a:tcPr>
                </a:tc>
                <a:tc>
                  <a:txBody>
                    <a:bodyPr/>
                    <a:lstStyle/>
                    <a:p>
                      <a:r>
                        <a:rPr sz="1200">
                          <a:solidFill>
                            <a:srgbClr val="595959"/>
                          </a:solidFill>
                          <a:latin typeface="Aptos"/>
                        </a:rPr>
                        <a:t>ordinal</a:t>
                      </a:r>
                    </a:p>
                  </a:txBody>
                  <a:tcPr>
                    <a:solidFill>
                      <a:srgbClr val="FFFFFF"/>
                    </a:solidFill>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6291072" y="1234440"/>
          <a:ext cx="5440680" cy="1536192"/>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Hold   (relationship set)</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a:solidFill>
                            <a:srgbClr val="0E2841"/>
                          </a:solidFill>
                          <a:latin typeface="Aptos"/>
                        </a:rPr>
                        <a:t>issue_date</a:t>
                      </a:r>
                    </a:p>
                  </a:txBody>
                  <a:tcPr>
                    <a:solidFill>
                      <a:srgbClr val="FFFFFF"/>
                    </a:solidFill>
                  </a:tcPr>
                </a:tc>
                <a:tc>
                  <a:txBody>
                    <a:bodyPr/>
                    <a:lstStyle/>
                    <a:p>
                      <a:r>
                        <a:rPr sz="1200">
                          <a:solidFill>
                            <a:srgbClr val="595959"/>
                          </a:solidFill>
                          <a:latin typeface="Aptos"/>
                        </a:rPr>
                        <a:t>date</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expiration_date</a:t>
                      </a:r>
                    </a:p>
                  </a:txBody>
                  <a:tcPr>
                    <a:solidFill>
                      <a:srgbClr val="FFFFFF"/>
                    </a:solidFill>
                  </a:tcPr>
                </a:tc>
                <a:tc>
                  <a:txBody>
                    <a:bodyPr/>
                    <a:lstStyle/>
                    <a:p>
                      <a:r>
                        <a:rPr sz="1200">
                          <a:solidFill>
                            <a:srgbClr val="595959"/>
                          </a:solidFill>
                          <a:latin typeface="Aptos"/>
                        </a:rPr>
                        <a:t>date</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grade</a:t>
                      </a:r>
                    </a:p>
                  </a:txBody>
                  <a:tcPr>
                    <a:solidFill>
                      <a:srgbClr val="FFFFFF"/>
                    </a:solidFill>
                  </a:tcPr>
                </a:tc>
                <a:tc>
                  <a:txBody>
                    <a:bodyPr/>
                    <a:lstStyle/>
                    <a:p>
                      <a:r>
                        <a:rPr sz="1200">
                          <a:solidFill>
                            <a:srgbClr val="595959"/>
                          </a:solidFill>
                          <a:latin typeface="Aptos"/>
                        </a:rPr>
                        <a:t>text, optional (CE4)</a:t>
                      </a:r>
                    </a:p>
                  </a:txBody>
                  <a:tcPr>
                    <a:solidFill>
                      <a:srgbClr val="FFFFFF"/>
                    </a:solidFill>
                  </a:tcPr>
                </a:tc>
                <a:extLst>
                  <a:ext uri="{0D108BD9-81ED-4DB2-BD59-A6C34878D82A}">
                    <a16:rowId xmlns:a16="http://schemas.microsoft.com/office/drawing/2014/main" val="10003"/>
                  </a:ext>
                </a:extLst>
              </a:tr>
              <a:tr h="292608">
                <a:tc>
                  <a:txBody>
                    <a:bodyPr/>
                    <a:lstStyle/>
                    <a:p>
                      <a:endParaRPr/>
                    </a:p>
                  </a:txBody>
                  <a:tcPr>
                    <a:solidFill>
                      <a:srgbClr val="FFFFFF"/>
                    </a:solidFill>
                  </a:tcPr>
                </a:tc>
                <a:tc>
                  <a:txBody>
                    <a:bodyPr/>
                    <a:lstStyle/>
                    <a:p>
                      <a:r>
                        <a:rPr sz="1200">
                          <a:solidFill>
                            <a:srgbClr val="595959"/>
                          </a:solidFill>
                          <a:latin typeface="Aptos"/>
                        </a:rPr>
                        <a:t>one instance per (Person, Certification) pair</a:t>
                      </a:r>
                    </a:p>
                  </a:txBody>
                  <a:tcP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02920" y="5440680"/>
            <a:ext cx="11155680" cy="1097280"/>
          </a:xfrm>
          <a:prstGeom prst="rect">
            <a:avLst/>
          </a:prstGeom>
          <a:noFill/>
        </p:spPr>
        <p:txBody>
          <a:bodyPr wrap="square">
            <a:spAutoFit/>
          </a:bodyPr>
          <a:lstStyle/>
          <a:p>
            <a:r>
              <a:rPr sz="1300" b="1">
                <a:solidFill>
                  <a:srgbClr val="0E2841"/>
                </a:solidFill>
                <a:latin typeface="Aptos"/>
              </a:rPr>
              <a:t>Why these three sit on Hold:  </a:t>
            </a:r>
            <a:r>
              <a:rPr sz="1250">
                <a:solidFill>
                  <a:srgbClr val="595959"/>
                </a:solidFill>
                <a:latin typeface="Aptos"/>
              </a:rPr>
              <a:t>they describe the moment the certification was awarded, not the person and not the certificate type. CE5 then follows on its own, a relationship set cannot hold two instances for the same pair. Require, Belongs_to, Located_in and Uses have no attributes.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1168"/>
            <a:ext cx="8412480" cy="822960"/>
          </a:xfrm>
        </p:spPr>
        <p:txBody>
          <a:bodyPr/>
          <a:lstStyle/>
          <a:p>
            <a:r>
              <a:rPr sz="2800" b="1"/>
              <a:t>Attributes — Maintenance and Calibration</a:t>
            </a:r>
          </a:p>
        </p:txBody>
      </p:sp>
      <p:graphicFrame>
        <p:nvGraphicFramePr>
          <p:cNvPr id="4" name="Table 3"/>
          <p:cNvGraphicFramePr>
            <a:graphicFrameLocks noGrp="1"/>
          </p:cNvGraphicFramePr>
          <p:nvPr/>
        </p:nvGraphicFramePr>
        <p:xfrm>
          <a:off x="457200" y="1234440"/>
          <a:ext cx="5440680" cy="2048256"/>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Maintenance   (weak)</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start_ts</a:t>
                      </a:r>
                    </a:p>
                  </a:txBody>
                  <a:tcPr>
                    <a:solidFill>
                      <a:srgbClr val="FFFFFF"/>
                    </a:solidFill>
                  </a:tcPr>
                </a:tc>
                <a:tc>
                  <a:txBody>
                    <a:bodyPr/>
                    <a:lstStyle/>
                    <a:p>
                      <a:r>
                        <a:rPr sz="1200">
                          <a:solidFill>
                            <a:srgbClr val="595959"/>
                          </a:solidFill>
                          <a:latin typeface="Aptos"/>
                        </a:rPr>
                        <a:t>partial key (MA2)</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end_ts</a:t>
                      </a:r>
                    </a:p>
                  </a:txBody>
                  <a:tcPr>
                    <a:solidFill>
                      <a:srgbClr val="FFFFFF"/>
                    </a:solidFill>
                  </a:tcPr>
                </a:tc>
                <a:tc>
                  <a:txBody>
                    <a:bodyPr/>
                    <a:lstStyle/>
                    <a:p>
                      <a:r>
                        <a:rPr sz="1200">
                          <a:solidFill>
                            <a:srgbClr val="595959"/>
                          </a:solidFill>
                          <a:latin typeface="Aptos"/>
                        </a:rPr>
                        <a:t>timestamp</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type</a:t>
                      </a:r>
                    </a:p>
                  </a:txBody>
                  <a:tcPr>
                    <a:solidFill>
                      <a:srgbClr val="FFFFFF"/>
                    </a:solidFill>
                  </a:tcPr>
                </a:tc>
                <a:tc>
                  <a:txBody>
                    <a:bodyPr/>
                    <a:lstStyle/>
                    <a:p>
                      <a:r>
                        <a:rPr sz="1200">
                          <a:solidFill>
                            <a:srgbClr val="595959"/>
                          </a:solidFill>
                          <a:latin typeface="Aptos"/>
                        </a:rPr>
                        <a:t>Preventive / Corrective</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description</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cost</a:t>
                      </a:r>
                    </a:p>
                  </a:txBody>
                  <a:tcPr>
                    <a:solidFill>
                      <a:srgbClr val="FFFFFF"/>
                    </a:solidFill>
                  </a:tcPr>
                </a:tc>
                <a:tc>
                  <a:txBody>
                    <a:bodyPr/>
                    <a:lstStyle/>
                    <a:p>
                      <a:r>
                        <a:rPr sz="1200">
                          <a:solidFill>
                            <a:srgbClr val="595959"/>
                          </a:solidFill>
                          <a:latin typeface="Aptos"/>
                        </a:rPr>
                        <a:t>decimal</a:t>
                      </a:r>
                    </a:p>
                  </a:txBody>
                  <a:tcPr>
                    <a:solidFill>
                      <a:srgbClr val="FFFFFF"/>
                    </a:solidFill>
                  </a:tcPr>
                </a:tc>
                <a:extLst>
                  <a:ext uri="{0D108BD9-81ED-4DB2-BD59-A6C34878D82A}">
                    <a16:rowId xmlns:a16="http://schemas.microsoft.com/office/drawing/2014/main" val="10005"/>
                  </a:ext>
                </a:extLst>
              </a:tr>
              <a:tr h="292608">
                <a:tc>
                  <a:txBody>
                    <a:bodyPr/>
                    <a:lstStyle/>
                    <a:p>
                      <a:r>
                        <a:rPr sz="1200">
                          <a:solidFill>
                            <a:srgbClr val="0E2841"/>
                          </a:solidFill>
                          <a:latin typeface="Aptos"/>
                        </a:rPr>
                        <a:t>outcome</a:t>
                      </a:r>
                    </a:p>
                  </a:txBody>
                  <a:tcPr>
                    <a:solidFill>
                      <a:srgbClr val="FFFFFF"/>
                    </a:solidFill>
                  </a:tcPr>
                </a:tc>
                <a:tc>
                  <a:txBody>
                    <a:bodyPr/>
                    <a:lstStyle/>
                    <a:p>
                      <a:r>
                        <a:rPr sz="1200">
                          <a:solidFill>
                            <a:srgbClr val="595959"/>
                          </a:solidFill>
                          <a:latin typeface="Aptos"/>
                        </a:rPr>
                        <a:t>Resolved / FollowUpRequired</a:t>
                      </a:r>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nvGraphicFramePr>
        <p:xfrm>
          <a:off x="6291072" y="1234440"/>
          <a:ext cx="5440680" cy="1755648"/>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92608">
                <a:tc gridSpan="2">
                  <a:txBody>
                    <a:bodyPr/>
                    <a:lstStyle/>
                    <a:p>
                      <a:r>
                        <a:rPr sz="1300" b="1">
                          <a:solidFill>
                            <a:srgbClr val="FFFFFF"/>
                          </a:solidFill>
                          <a:latin typeface="Aptos"/>
                        </a:rPr>
                        <a:t>Calibration   (weak)</a:t>
                      </a:r>
                    </a:p>
                  </a:txBody>
                  <a:tcPr>
                    <a:solidFill>
                      <a:srgbClr val="0E2841"/>
                    </a:solidFill>
                  </a:tcPr>
                </a:tc>
                <a:tc hMerge="1">
                  <a:txBody>
                    <a:bodyPr/>
                    <a:lstStyle/>
                    <a:p>
                      <a:endParaRPr/>
                    </a:p>
                  </a:txBody>
                  <a:tcPr>
                    <a:solidFill>
                      <a:srgbClr val="0E2841"/>
                    </a:solidFill>
                  </a:tcPr>
                </a:tc>
                <a:extLst>
                  <a:ext uri="{0D108BD9-81ED-4DB2-BD59-A6C34878D82A}">
                    <a16:rowId xmlns:a16="http://schemas.microsoft.com/office/drawing/2014/main" val="10000"/>
                  </a:ext>
                </a:extLst>
              </a:tr>
              <a:tr h="292608">
                <a:tc>
                  <a:txBody>
                    <a:bodyPr/>
                    <a:lstStyle/>
                    <a:p>
                      <a:r>
                        <a:rPr sz="1200" b="1" u="sng">
                          <a:solidFill>
                            <a:srgbClr val="0E2841"/>
                          </a:solidFill>
                          <a:latin typeface="Aptos"/>
                        </a:rPr>
                        <a:t>calib_date</a:t>
                      </a:r>
                    </a:p>
                  </a:txBody>
                  <a:tcPr>
                    <a:solidFill>
                      <a:srgbClr val="FFFFFF"/>
                    </a:solidFill>
                  </a:tcPr>
                </a:tc>
                <a:tc>
                  <a:txBody>
                    <a:bodyPr/>
                    <a:lstStyle/>
                    <a:p>
                      <a:r>
                        <a:rPr sz="1200">
                          <a:solidFill>
                            <a:srgbClr val="595959"/>
                          </a:solidFill>
                          <a:latin typeface="Aptos"/>
                        </a:rPr>
                        <a:t>partial key (CA4)</a:t>
                      </a:r>
                    </a:p>
                  </a:txBody>
                  <a:tcPr>
                    <a:solidFill>
                      <a:srgbClr val="FFFFFF"/>
                    </a:solidFill>
                  </a:tcPr>
                </a:tc>
                <a:extLst>
                  <a:ext uri="{0D108BD9-81ED-4DB2-BD59-A6C34878D82A}">
                    <a16:rowId xmlns:a16="http://schemas.microsoft.com/office/drawing/2014/main" val="10001"/>
                  </a:ext>
                </a:extLst>
              </a:tr>
              <a:tr h="292608">
                <a:tc>
                  <a:txBody>
                    <a:bodyPr/>
                    <a:lstStyle/>
                    <a:p>
                      <a:r>
                        <a:rPr sz="1200">
                          <a:solidFill>
                            <a:srgbClr val="0E2841"/>
                          </a:solidFill>
                          <a:latin typeface="Aptos"/>
                        </a:rPr>
                        <a:t>calib_type</a:t>
                      </a:r>
                    </a:p>
                  </a:txBody>
                  <a:tcPr>
                    <a:solidFill>
                      <a:srgbClr val="FFFFFF"/>
                    </a:solidFill>
                  </a:tcPr>
                </a:tc>
                <a:tc>
                  <a:txBody>
                    <a:bodyPr/>
                    <a:lstStyle/>
                    <a:p>
                      <a:r>
                        <a:rPr sz="1200">
                          <a:solidFill>
                            <a:srgbClr val="595959"/>
                          </a:solidFill>
                          <a:latin typeface="Aptos"/>
                        </a:rPr>
                        <a:t>text</a:t>
                      </a:r>
                    </a:p>
                  </a:txBody>
                  <a:tcPr>
                    <a:solidFill>
                      <a:srgbClr val="FFFFFF"/>
                    </a:solidFill>
                  </a:tcPr>
                </a:tc>
                <a:extLst>
                  <a:ext uri="{0D108BD9-81ED-4DB2-BD59-A6C34878D82A}">
                    <a16:rowId xmlns:a16="http://schemas.microsoft.com/office/drawing/2014/main" val="10002"/>
                  </a:ext>
                </a:extLst>
              </a:tr>
              <a:tr h="292608">
                <a:tc>
                  <a:txBody>
                    <a:bodyPr/>
                    <a:lstStyle/>
                    <a:p>
                      <a:r>
                        <a:rPr sz="1200">
                          <a:solidFill>
                            <a:srgbClr val="0E2841"/>
                          </a:solidFill>
                          <a:latin typeface="Aptos"/>
                        </a:rPr>
                        <a:t>result</a:t>
                      </a:r>
                    </a:p>
                  </a:txBody>
                  <a:tcPr>
                    <a:solidFill>
                      <a:srgbClr val="FFFFFF"/>
                    </a:solidFill>
                  </a:tcPr>
                </a:tc>
                <a:tc>
                  <a:txBody>
                    <a:bodyPr/>
                    <a:lstStyle/>
                    <a:p>
                      <a:r>
                        <a:rPr sz="1200">
                          <a:solidFill>
                            <a:srgbClr val="595959"/>
                          </a:solidFill>
                          <a:latin typeface="Aptos"/>
                        </a:rPr>
                        <a:t>Pass / Fail / Adjusted</a:t>
                      </a:r>
                    </a:p>
                  </a:txBody>
                  <a:tcPr>
                    <a:solidFill>
                      <a:srgbClr val="FFFFFF"/>
                    </a:solidFill>
                  </a:tcPr>
                </a:tc>
                <a:extLst>
                  <a:ext uri="{0D108BD9-81ED-4DB2-BD59-A6C34878D82A}">
                    <a16:rowId xmlns:a16="http://schemas.microsoft.com/office/drawing/2014/main" val="10003"/>
                  </a:ext>
                </a:extLst>
              </a:tr>
              <a:tr h="292608">
                <a:tc>
                  <a:txBody>
                    <a:bodyPr/>
                    <a:lstStyle/>
                    <a:p>
                      <a:r>
                        <a:rPr sz="1200">
                          <a:solidFill>
                            <a:srgbClr val="0E2841"/>
                          </a:solidFill>
                          <a:latin typeface="Aptos"/>
                        </a:rPr>
                        <a:t>next_due_date</a:t>
                      </a:r>
                    </a:p>
                  </a:txBody>
                  <a:tcPr>
                    <a:solidFill>
                      <a:srgbClr val="FFFFFF"/>
                    </a:solidFill>
                  </a:tcPr>
                </a:tc>
                <a:tc>
                  <a:txBody>
                    <a:bodyPr/>
                    <a:lstStyle/>
                    <a:p>
                      <a:r>
                        <a:rPr sz="1200">
                          <a:solidFill>
                            <a:srgbClr val="595959"/>
                          </a:solidFill>
                          <a:latin typeface="Aptos"/>
                        </a:rPr>
                        <a:t>date</a:t>
                      </a:r>
                    </a:p>
                  </a:txBody>
                  <a:tcPr>
                    <a:solidFill>
                      <a:srgbClr val="FFFFFF"/>
                    </a:solidFill>
                  </a:tcPr>
                </a:tc>
                <a:extLst>
                  <a:ext uri="{0D108BD9-81ED-4DB2-BD59-A6C34878D82A}">
                    <a16:rowId xmlns:a16="http://schemas.microsoft.com/office/drawing/2014/main" val="10004"/>
                  </a:ext>
                </a:extLst>
              </a:tr>
              <a:tr h="292608">
                <a:tc>
                  <a:txBody>
                    <a:bodyPr/>
                    <a:lstStyle/>
                    <a:p>
                      <a:r>
                        <a:rPr sz="1200">
                          <a:solidFill>
                            <a:srgbClr val="0E2841"/>
                          </a:solidFill>
                          <a:latin typeface="Aptos"/>
                        </a:rPr>
                        <a:t>remarks</a:t>
                      </a:r>
                    </a:p>
                  </a:txBody>
                  <a:tcPr>
                    <a:solidFill>
                      <a:srgbClr val="FFFFFF"/>
                    </a:solidFill>
                  </a:tcPr>
                </a:tc>
                <a:tc>
                  <a:txBody>
                    <a:bodyPr/>
                    <a:lstStyle/>
                    <a:p>
                      <a:r>
                        <a:rPr sz="1200">
                          <a:solidFill>
                            <a:srgbClr val="595959"/>
                          </a:solidFill>
                          <a:latin typeface="Aptos"/>
                        </a:rPr>
                        <a:t>text, optional</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5440680"/>
            <a:ext cx="11155680" cy="1097280"/>
          </a:xfrm>
          <a:prstGeom prst="rect">
            <a:avLst/>
          </a:prstGeom>
          <a:noFill/>
        </p:spPr>
        <p:txBody>
          <a:bodyPr wrap="square">
            <a:spAutoFit/>
          </a:bodyPr>
          <a:lstStyle/>
          <a:p>
            <a:r>
              <a:rPr sz="1300" b="1">
                <a:solidFill>
                  <a:srgbClr val="0E2841"/>
                </a:solidFill>
                <a:latin typeface="Aptos"/>
              </a:rPr>
              <a:t>Full identifiers:  </a:t>
            </a:r>
            <a:r>
              <a:rPr sz="1250">
                <a:solidFill>
                  <a:srgbClr val="595959"/>
                </a:solidFill>
                <a:latin typeface="Aptos"/>
              </a:rPr>
              <a:t>serial_nb + start_ts for a maintenance, serial_nb + calib_date for a calibration. Neither partial key is unique on its own, which is why both are drawn with a dashed underline.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95300" y="320040"/>
            <a:ext cx="11155680" cy="548640"/>
          </a:xfrm>
          <a:prstGeom prst="rect">
            <a:avLst/>
          </a:prstGeom>
          <a:noFill/>
          <a:ln/>
        </p:spPr>
        <p:txBody>
          <a:bodyPr wrap="square" lIns="0" tIns="0" rIns="0" bIns="0" rtlCol="0" anchor="ctr"/>
          <a:lstStyle/>
          <a:p>
            <a:pPr marL="0" indent="0">
              <a:buNone/>
            </a:pPr>
            <a:r>
              <a:rPr lang="en-US" sz="2800" b="1" dirty="0">
                <a:solidFill>
                  <a:srgbClr val="000000"/>
                </a:solidFill>
                <a:latin typeface="Aptos Display" pitchFamily="34" charset="0"/>
                <a:ea typeface="Aptos Display" pitchFamily="34" charset="-122"/>
                <a:cs typeface="Aptos Display" pitchFamily="34" charset="-120"/>
              </a:rPr>
              <a:t>Attributes — Consumable and Supplier</a:t>
            </a:r>
            <a:endParaRPr lang="en-US" sz="2800" dirty="0"/>
          </a:p>
        </p:txBody>
      </p:sp>
      <p:graphicFrame>
        <p:nvGraphicFramePr>
          <p:cNvPr id="4" name="Table 0"/>
          <p:cNvGraphicFramePr>
            <a:graphicFrameLocks noGrp="1"/>
          </p:cNvGraphicFramePr>
          <p:nvPr/>
        </p:nvGraphicFramePr>
        <p:xfrm>
          <a:off x="464820" y="1242060"/>
          <a:ext cx="5425440" cy="1723390"/>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Consumable</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b="1" u="sng" dirty="0">
                          <a:solidFill>
                            <a:srgbClr val="0E2841"/>
                          </a:solidFill>
                          <a:latin typeface="Aptos" pitchFamily="34" charset="0"/>
                          <a:ea typeface="Aptos" pitchFamily="34" charset="-122"/>
                          <a:cs typeface="Aptos" pitchFamily="34" charset="-120"/>
                        </a:rPr>
                        <a:t>consumable_id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identifier, key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name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unit_of_measure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hazard_level</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level</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reorder_threshold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quantity, one value per consumable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bl>
          </a:graphicData>
        </a:graphic>
      </p:graphicFrame>
      <p:graphicFrame>
        <p:nvGraphicFramePr>
          <p:cNvPr id="7" name="Table 1"/>
          <p:cNvGraphicFramePr>
            <a:graphicFrameLocks noGrp="1"/>
          </p:cNvGraphicFramePr>
          <p:nvPr/>
        </p:nvGraphicFramePr>
        <p:xfrm>
          <a:off x="6294120" y="1242060"/>
          <a:ext cx="5425440" cy="1431544"/>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Supplier</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b="1" u="sng" dirty="0">
                          <a:solidFill>
                            <a:srgbClr val="0E2841"/>
                          </a:solidFill>
                          <a:latin typeface="Aptos" pitchFamily="34" charset="0"/>
                          <a:ea typeface="Aptos" pitchFamily="34" charset="-122"/>
                          <a:cs typeface="Aptos" pitchFamily="34" charset="-120"/>
                        </a:rPr>
                        <a:t>supplier_id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identifier, key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name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contact_email</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phone_nb</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bl>
          </a:graphicData>
        </a:graphic>
      </p:graphicFrame>
      <p:sp>
        <p:nvSpPr>
          <p:cNvPr id="5" name="Text 1"/>
          <p:cNvSpPr txBox="1"/>
          <p:nvPr/>
        </p:nvSpPr>
        <p:spPr>
          <a:xfrm>
            <a:off x="594360" y="5486400"/>
            <a:ext cx="10972800" cy="548640"/>
          </a:xfrm>
          <a:prstGeom prst="rect">
            <a:avLst/>
          </a:prstGeom>
          <a:noFill/>
          <a:ln/>
        </p:spPr>
        <p:txBody>
          <a:bodyPr wrap="square" lIns="0" tIns="0" rIns="0" bIns="0" rtlCol="0" anchor="t"/>
          <a:lstStyle/>
          <a:p>
            <a:pPr marL="0" indent="0">
              <a:buNone/>
            </a:pPr>
            <a:r>
              <a:rPr lang="en-US" sz="1200" b="1" dirty="0">
                <a:solidFill>
                  <a:srgbClr val="0E2841"/>
                </a:solidFill>
                <a:latin typeface="Aptos" pitchFamily="34" charset="0"/>
                <a:ea typeface="Aptos" pitchFamily="34" charset="-122"/>
                <a:cs typeface="Aptos" pitchFamily="34" charset="-120"/>
              </a:rPr>
              <a:t>Note:  </a:t>
            </a:r>
            <a:r>
              <a:rPr lang="en-US" sz="1200" dirty="0">
                <a:solidFill>
                  <a:srgbClr val="595959"/>
                </a:solidFill>
                <a:latin typeface="Aptos" pitchFamily="34" charset="0"/>
                <a:ea typeface="Aptos" pitchFamily="34" charset="-122"/>
                <a:cs typeface="Aptos" pitchFamily="34" charset="-120"/>
              </a:rPr>
              <a:t>hazard_level and reorder_threshold hold one value per consumable and apply in every laboratory. The attributes that depend on a laboratory, a supplier or a reservation belong to the relationship sets on the next slide.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95300" y="320040"/>
            <a:ext cx="11155680" cy="548640"/>
          </a:xfrm>
          <a:prstGeom prst="rect">
            <a:avLst/>
          </a:prstGeom>
          <a:noFill/>
          <a:ln/>
        </p:spPr>
        <p:txBody>
          <a:bodyPr wrap="square" lIns="0" tIns="0" rIns="0" bIns="0" rtlCol="0" anchor="ctr"/>
          <a:lstStyle/>
          <a:p>
            <a:pPr marL="0" indent="0">
              <a:buNone/>
            </a:pPr>
            <a:r>
              <a:rPr lang="en-US" sz="2800" b="1" dirty="0">
                <a:solidFill>
                  <a:srgbClr val="000000"/>
                </a:solidFill>
                <a:latin typeface="Aptos Display" pitchFamily="34" charset="0"/>
                <a:ea typeface="Aptos Display" pitchFamily="34" charset="-122"/>
                <a:cs typeface="Aptos Display" pitchFamily="34" charset="-120"/>
              </a:rPr>
              <a:t>Attributes — Stock, Supply, Monitor and Consume</a:t>
            </a:r>
            <a:endParaRPr lang="en-US" sz="2800" dirty="0"/>
          </a:p>
        </p:txBody>
      </p:sp>
      <p:graphicFrame>
        <p:nvGraphicFramePr>
          <p:cNvPr id="5" name="Table 0"/>
          <p:cNvGraphicFramePr>
            <a:graphicFrameLocks noGrp="1"/>
          </p:cNvGraphicFramePr>
          <p:nvPr/>
        </p:nvGraphicFramePr>
        <p:xfrm>
          <a:off x="464820" y="1242060"/>
          <a:ext cx="5425440" cy="1139698"/>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Stock  (Laboratory – Consumable)</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available_quantity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quantity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last_restock_date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storage_condition</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text, optional</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bl>
          </a:graphicData>
        </a:graphic>
      </p:graphicFrame>
      <p:graphicFrame>
        <p:nvGraphicFramePr>
          <p:cNvPr id="9" name="Table 1"/>
          <p:cNvGraphicFramePr>
            <a:graphicFrameLocks noGrp="1"/>
          </p:cNvGraphicFramePr>
          <p:nvPr/>
        </p:nvGraphicFramePr>
        <p:xfrm>
          <a:off x="6294120" y="1242060"/>
          <a:ext cx="5425440" cy="556006"/>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Supply  (Supplier – Consumable – Laboratory)</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unit_price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money amount, per combination</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bl>
          </a:graphicData>
        </a:graphic>
      </p:graphicFrame>
      <p:graphicFrame>
        <p:nvGraphicFramePr>
          <p:cNvPr id="13" name="Table 2"/>
          <p:cNvGraphicFramePr>
            <a:graphicFrameLocks noGrp="1"/>
          </p:cNvGraphicFramePr>
          <p:nvPr/>
        </p:nvGraphicFramePr>
        <p:xfrm>
          <a:off x="464820" y="2696718"/>
          <a:ext cx="5425440" cy="556006"/>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Monitor  (Technical_Staff – Stock)</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start_date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date</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bl>
          </a:graphicData>
        </a:graphic>
      </p:graphicFrame>
      <p:graphicFrame>
        <p:nvGraphicFramePr>
          <p:cNvPr id="17" name="Table 3"/>
          <p:cNvGraphicFramePr>
            <a:graphicFrameLocks noGrp="1"/>
          </p:cNvGraphicFramePr>
          <p:nvPr/>
        </p:nvGraphicFramePr>
        <p:xfrm>
          <a:off x="6294120" y="2696718"/>
          <a:ext cx="5425440" cy="556006"/>
        </p:xfrm>
        <a:graphic>
          <a:graphicData uri="http://schemas.openxmlformats.org/drawingml/2006/table">
            <a:tbl>
              <a:tblPr/>
              <a:tblGrid>
                <a:gridCol w="2232660">
                  <a:extLst>
                    <a:ext uri="{9D8B030D-6E8A-4147-A177-3AD203B41FA5}">
                      <a16:colId xmlns:a16="http://schemas.microsoft.com/office/drawing/2014/main" val="20000"/>
                    </a:ext>
                  </a:extLst>
                </a:gridCol>
                <a:gridCol w="3192780">
                  <a:extLst>
                    <a:ext uri="{9D8B030D-6E8A-4147-A177-3AD203B41FA5}">
                      <a16:colId xmlns:a16="http://schemas.microsoft.com/office/drawing/2014/main" val="20001"/>
                    </a:ext>
                  </a:extLst>
                </a:gridCol>
              </a:tblGrid>
              <a:tr h="259080">
                <a:tc gridSpan="2">
                  <a:txBody>
                    <a:bodyPr/>
                    <a:lstStyle/>
                    <a:p>
                      <a:pPr marL="0" indent="0">
                        <a:buNone/>
                      </a:pPr>
                      <a:r>
                        <a:rPr lang="en-US" sz="1400" b="1" dirty="0">
                          <a:solidFill>
                            <a:srgbClr val="FFFFFF"/>
                          </a:solidFill>
                          <a:latin typeface="Aptos" pitchFamily="34" charset="0"/>
                          <a:ea typeface="Aptos" pitchFamily="34" charset="-122"/>
                          <a:cs typeface="Aptos" pitchFamily="34" charset="-120"/>
                        </a:rPr>
                        <a:t>Consume  (Reservation – Consumable)</a:t>
                      </a:r>
                      <a:endParaRPr lang="en-US" sz="14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solidFill>
                      <a:srgbClr val="0E2841"/>
                    </a:solidFill>
                  </a:tcPr>
                </a:tc>
                <a:tc hMerge="1">
                  <a:txBody>
                    <a:bodyPr/>
                    <a:lstStyle/>
                    <a:p>
                      <a:endParaRPr lang="en-MA"/>
                    </a:p>
                  </a:txBody>
                  <a:tcPr/>
                </a:tc>
                <a:extLst>
                  <a:ext uri="{0D108BD9-81ED-4DB2-BD59-A6C34878D82A}">
                    <a16:rowId xmlns:a16="http://schemas.microsoft.com/office/drawing/2014/main" val="10000"/>
                  </a:ext>
                </a:extLst>
              </a:tr>
              <a:tr h="291846">
                <a:tc>
                  <a:txBody>
                    <a:bodyPr/>
                    <a:lstStyle/>
                    <a:p>
                      <a:pPr marL="0" indent="0">
                        <a:buNone/>
                      </a:pPr>
                      <a:r>
                        <a:rPr lang="en-US" sz="1200" dirty="0">
                          <a:solidFill>
                            <a:srgbClr val="0E2841"/>
                          </a:solidFill>
                          <a:latin typeface="Aptos" pitchFamily="34" charset="0"/>
                          <a:ea typeface="Aptos" pitchFamily="34" charset="-122"/>
                          <a:cs typeface="Aptos" pitchFamily="34" charset="-120"/>
                        </a:rPr>
                        <a:t>quantity_used</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595959"/>
                          </a:solidFill>
                          <a:latin typeface="Aptos" pitchFamily="34" charset="0"/>
                          <a:ea typeface="Aptos" pitchFamily="34" charset="-122"/>
                          <a:cs typeface="Aptos" pitchFamily="34" charset="-120"/>
                        </a:rPr>
                        <a:t>quantity</a:t>
                      </a:r>
                      <a:endParaRPr lang="en-US" sz="1200" dirty="0">
                        <a:latin typeface="Aptos" charset="0"/>
                        <a:ea typeface="Aptos" charset="0"/>
                        <a:cs typeface="Aptos" charset="0"/>
                      </a:endParaRPr>
                    </a:p>
                  </a:txBody>
                  <a:tcPr marL="88900" marR="50800" marT="25400" marB="254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bl>
          </a:graphicData>
        </a:graphic>
      </p:graphicFrame>
      <p:sp>
        <p:nvSpPr>
          <p:cNvPr id="7" name="Text 1"/>
          <p:cNvSpPr txBox="1"/>
          <p:nvPr/>
        </p:nvSpPr>
        <p:spPr>
          <a:xfrm>
            <a:off x="594360" y="5486400"/>
            <a:ext cx="10972800" cy="548640"/>
          </a:xfrm>
          <a:prstGeom prst="rect">
            <a:avLst/>
          </a:prstGeom>
          <a:noFill/>
          <a:ln/>
        </p:spPr>
        <p:txBody>
          <a:bodyPr wrap="square" lIns="0" tIns="0" rIns="0" bIns="0" rtlCol="0" anchor="t"/>
          <a:lstStyle/>
          <a:p>
            <a:pPr marL="0" indent="0">
              <a:buNone/>
            </a:pPr>
            <a:r>
              <a:rPr lang="en-US" sz="1200" b="1" dirty="0">
                <a:solidFill>
                  <a:srgbClr val="0E2841"/>
                </a:solidFill>
                <a:latin typeface="Aptos" pitchFamily="34" charset="0"/>
                <a:ea typeface="Aptos" pitchFamily="34" charset="-122"/>
                <a:cs typeface="Aptos" pitchFamily="34" charset="-120"/>
              </a:rPr>
              <a:t>Relationship sets:  </a:t>
            </a:r>
            <a:r>
              <a:rPr lang="en-US" sz="1200" dirty="0">
                <a:solidFill>
                  <a:srgbClr val="595959"/>
                </a:solidFill>
                <a:latin typeface="Aptos" pitchFamily="34" charset="0"/>
                <a:ea typeface="Aptos" pitchFamily="34" charset="-122"/>
                <a:cs typeface="Aptos" pitchFamily="34" charset="-120"/>
              </a:rPr>
              <a:t>Stock links Laboratory and Consumable. Supply links Supplier, Consumable and Laboratory and may exist without stock. Monitor links one Technical_Staff member to each Stock pair, and Consume links Reservation and Consumable.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752</TotalTime>
  <Words>1561</Words>
  <Application>Microsoft Macintosh PowerPoint</Application>
  <PresentationFormat>Widescreen</PresentationFormat>
  <Paragraphs>257</Paragraphs>
  <Slides>36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Cambria</vt:lpstr>
      <vt:lpstr>Office Theme</vt:lpstr>
      <vt:lpstr>Data management lab1</vt:lpstr>
      <vt:lpstr>Part 1 — People and Laboratories</vt:lpstr>
      <vt:lpstr>People hierarchy</vt:lpstr>
      <vt:lpstr>Recursive relationship : </vt:lpstr>
      <vt:lpstr>Host relationship: </vt:lpstr>
      <vt:lpstr>M1 ER Model </vt:lpstr>
      <vt:lpstr>Part 2 — Reaserch Projects and Budgets</vt:lpstr>
      <vt:lpstr>Reaserch project entity : </vt:lpstr>
      <vt:lpstr>Badget entity and manage relationship : </vt:lpstr>
      <vt:lpstr>Reservation entity and relation ships : </vt:lpstr>
      <vt:lpstr>M2 ER Model </vt:lpstr>
      <vt:lpstr>Part 3 — Equipment and Operations</vt:lpstr>
      <vt:lpstr>Equipment model and equipment unit</vt:lpstr>
      <vt:lpstr>Who is using a unit</vt:lpstr>
      <vt:lpstr>Certifications and authorizations</vt:lpstr>
      <vt:lpstr>Maintenance</vt:lpstr>
      <vt:lpstr>Calibration records</vt:lpstr>
      <vt:lpstr>Part3 –  ER MODEL</vt:lpstr>
      <vt:lpstr>Part 4— Laboratory Consumables and Supply Chain </vt:lpstr>
      <vt:lpstr>Making the consumable Entity and its relationship with Laboratory</vt:lpstr>
      <vt:lpstr>Creating the supplier entity : </vt:lpstr>
      <vt:lpstr>Making the ternary relationship</vt:lpstr>
      <vt:lpstr>Making the negotiated unit price as an attribute to supplies</vt:lpstr>
      <vt:lpstr>Making attributes associated with Stock</vt:lpstr>
      <vt:lpstr>Aggregation so that Technical Staff  can monitor the aggregated stock entity </vt:lpstr>
      <vt:lpstr>Creating the relationship Consume between reservation and consumable and its attribute</vt:lpstr>
      <vt:lpstr>Part4 : ER MODEL </vt:lpstr>
      <vt:lpstr>Part 5 — Attributes</vt:lpstr>
      <vt:lpstr>Attributes — Person and Laboratory</vt:lpstr>
      <vt:lpstr>PowerPoint Presentation</vt:lpstr>
      <vt:lpstr>PowerPoint Presentation</vt:lpstr>
      <vt:lpstr>Attributes — Equipment</vt:lpstr>
      <vt:lpstr>Attributes — Certification and Hold</vt:lpstr>
      <vt:lpstr>Attributes — Maintenance and Calibration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Yassine TAHA</dc:creator>
  <cp:lastModifiedBy>Yassine TAHA</cp:lastModifiedBy>
  <cp:revision>5</cp:revision>
  <dcterms:created xsi:type="dcterms:W3CDTF">2026-09-20T10:54:40Z</dcterms:created>
  <dcterms:modified xsi:type="dcterms:W3CDTF">2026-09-20T23:33:31Z</dcterms:modified>
</cp:coreProperties>
</file>